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oongbe_email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0"/>
            <a:ext cx="6044184" cy="34015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658368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400" b="1">
                <a:solidFill>
                  <a:srgbClr val="1F6F5B"/>
                </a:solidFill>
                <a:latin typeface="Malgun Gothic"/>
              </a:defRPr>
            </a:pPr>
            <a:r>
              <a:t>브랜드별 제안서 샘플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34440"/>
            <a:ext cx="4754880" cy="11704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4200" b="1">
                <a:solidFill>
                  <a:srgbClr val="18201E"/>
                </a:solidFill>
                <a:latin typeface="Malgun Gothic"/>
              </a:defRPr>
            </a:pPr>
            <a:r>
              <a:t>궁중비책</a:t>
            </a:r>
            <a:br/>
            <a:r>
              <a:t>영업상품 추천안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788920"/>
            <a:ext cx="4937760" cy="5852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800" b="0">
                <a:solidFill>
                  <a:srgbClr val="68736F"/>
                </a:solidFill>
                <a:latin typeface="Malgun Gothic"/>
              </a:defRPr>
            </a:pPr>
            <a:r>
              <a:t>리뷰, FAQ, 장점, 가격 근거를 이용해 어떤 영업상품으로 제안할지 정리한 예시입니다.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" y="3822191"/>
            <a:ext cx="1965960" cy="329184"/>
          </a:xfrm>
          <a:prstGeom prst="roundRect">
            <a:avLst/>
          </a:prstGeom>
          <a:solidFill>
            <a:srgbClr val="1F6F5B"/>
          </a:solidFill>
          <a:ln w="12700">
            <a:solidFill>
              <a:srgbClr val="1F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3895344"/>
            <a:ext cx="1837943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3822191"/>
            <a:ext cx="1600200" cy="329184"/>
          </a:xfrm>
          <a:prstGeom prst="roundRect">
            <a:avLst/>
          </a:prstGeom>
          <a:solidFill>
            <a:srgbClr val="E47C64"/>
          </a:solidFill>
          <a:ln w="12700">
            <a:solidFill>
              <a:srgbClr val="E47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61488" y="3895344"/>
            <a:ext cx="147218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후기 강점형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4645152"/>
            <a:ext cx="100584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100" b="1">
                <a:solidFill>
                  <a:srgbClr val="C59043"/>
                </a:solidFill>
                <a:latin typeface="Malgun Gothic"/>
              </a:defRPr>
            </a:pPr>
            <a:r>
              <a:t>추천 1순위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4919472"/>
            <a:ext cx="402336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800" b="1">
                <a:solidFill>
                  <a:srgbClr val="202624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7A817E"/>
                </a:solidFill>
                <a:latin typeface="Malgun Gothic"/>
              </a:defRPr>
            </a:pPr>
            <a:r>
              <a:t>Cosmetic sales proposal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7392" y="6455664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7A817E"/>
                </a:solidFill>
                <a:latin typeface="Malgun Gothi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105156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3400" b="1">
                <a:solidFill>
                  <a:srgbClr val="18201E"/>
                </a:solidFill>
                <a:latin typeface="Malgun Gothic"/>
              </a:defRPr>
            </a:pPr>
            <a:r>
              <a:t>궁중비책은 장벽·진정 메시지가 가장 먼저 보입니다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1078992"/>
            <a:ext cx="896112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68736F"/>
                </a:solidFill>
                <a:latin typeface="Malgun Gothic"/>
              </a:defRPr>
            </a:pPr>
            <a:r>
              <a:t>브랜드 텍스트에서 반복된 키워드를 제품군, 구매고민, 제안상품으로 연결했습니다.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874519"/>
            <a:ext cx="32461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30552"/>
            <a:ext cx="12801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200" b="1">
                <a:solidFill>
                  <a:srgbClr val="1F6F5B"/>
                </a:solidFill>
                <a:latin typeface="Malgun Gothic"/>
              </a:defRPr>
            </a:pPr>
            <a:r>
              <a:t>대그룹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78608"/>
            <a:ext cx="260604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300" b="1">
                <a:solidFill>
                  <a:srgbClr val="202624"/>
                </a:solidFill>
                <a:latin typeface="Malgun Gothic"/>
              </a:defRPr>
            </a:pPr>
            <a:r>
              <a:t>장벽/진정/민감 케어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10128"/>
            <a:ext cx="2606040" cy="5852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68736F"/>
                </a:solidFill>
                <a:latin typeface="Malgun Gothic"/>
              </a:defRPr>
            </a:pPr>
            <a:r>
              <a:t>민감 피부, 장벽, 진정, 피부 컨디션 회복 메시지가 중심인 브랜드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53128" y="1874519"/>
            <a:ext cx="32461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30552"/>
            <a:ext cx="12801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200" b="1">
                <a:solidFill>
                  <a:srgbClr val="1F6F5B"/>
                </a:solidFill>
                <a:latin typeface="Malgun Gothic"/>
              </a:defRPr>
            </a:pPr>
            <a:r>
              <a:t>세부그룹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578608"/>
            <a:ext cx="260604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300" b="1">
                <a:solidFill>
                  <a:srgbClr val="202624"/>
                </a:solidFill>
                <a:latin typeface="Malgun Gothic"/>
              </a:defRPr>
            </a:pPr>
            <a:r>
              <a:t>후기 강점형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310128"/>
            <a:ext cx="2606040" cy="5852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68736F"/>
                </a:solidFill>
                <a:latin typeface="Malgun Gothic"/>
              </a:defRPr>
            </a:pPr>
            <a:r>
              <a:t>후기와 만족 신호를 콘텐츠 증거로 전환하기 좋은 유형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7888" y="1874519"/>
            <a:ext cx="32461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2130552"/>
            <a:ext cx="128016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200" b="1">
                <a:solidFill>
                  <a:srgbClr val="1F6F5B"/>
                </a:solidFill>
                <a:latin typeface="Malgun Gothic"/>
              </a:defRPr>
            </a:pPr>
            <a:r>
              <a:t>근거 키워드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578608"/>
            <a:ext cx="2606040" cy="47548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300" b="1">
                <a:solidFill>
                  <a:srgbClr val="202624"/>
                </a:solidFill>
                <a:latin typeface="Malgun Gothic"/>
              </a:defRPr>
            </a:pPr>
            <a:r>
              <a:t>장벽, 진정, 시카, 병풀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310128"/>
            <a:ext cx="2606040" cy="5852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0">
                <a:solidFill>
                  <a:srgbClr val="68736F"/>
                </a:solidFill>
                <a:latin typeface="Malgun Gothic"/>
              </a:defRPr>
            </a:pPr>
            <a:r>
              <a:t>장벽·진정·시카·병풀을 중심 메시지로 사용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4983480"/>
            <a:ext cx="10607040" cy="658368"/>
          </a:xfrm>
          <a:prstGeom prst="roundRect">
            <a:avLst/>
          </a:prstGeom>
          <a:solidFill>
            <a:srgbClr val="E7F2EC"/>
          </a:solidFill>
          <a:ln w="12700">
            <a:solidFill>
              <a:srgbClr val="CFE2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66360"/>
            <a:ext cx="10149840" cy="21945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600" b="1">
                <a:solidFill>
                  <a:srgbClr val="1F6F5B"/>
                </a:solidFill>
                <a:latin typeface="Malgun Gothic"/>
              </a:defRPr>
            </a:pPr>
            <a:r>
              <a:t>궁중비책은(는) 장벽/진정/민감 케어 안에서도 후기 강점형으로 보이며, 제안서는 체험단/숏폼 리뷰 콘텐츠 중심으로 시작하는 것이 좋겠습니다.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7A817E"/>
                </a:solidFill>
                <a:latin typeface="Malgun Gothic"/>
              </a:defRPr>
            </a:pPr>
            <a:r>
              <a:t>Cosmetic sales proposal 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37392" y="6455664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7A817E"/>
                </a:solidFill>
                <a:latin typeface="Malgun Gothi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1033272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3300" b="1">
                <a:solidFill>
                  <a:srgbClr val="18201E"/>
                </a:solidFill>
                <a:latin typeface="Malgun Gothic"/>
              </a:defRPr>
            </a:pPr>
            <a:r>
              <a:t>근거는 효능 단정보다 구매 전 확인 포인트로 정리합니다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13232" y="1572768"/>
            <a:ext cx="960120" cy="329184"/>
          </a:xfrm>
          <a:prstGeom prst="roundRect">
            <a:avLst/>
          </a:prstGeom>
          <a:solidFill>
            <a:srgbClr val="1F6F5B"/>
          </a:solidFill>
          <a:ln w="12700">
            <a:solidFill>
              <a:srgbClr val="1F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83210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장점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1481328"/>
            <a:ext cx="896112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defRPr sz="1800" b="0">
                <a:solidFill>
                  <a:srgbClr val="202624"/>
                </a:solidFill>
                <a:latin typeface="Malgun Gothic"/>
              </a:defRPr>
            </a:pPr>
            <a:r>
              <a:t>진정/피부장벽, 가격/혜택, 만족/재구매 신호가 확인됨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651760"/>
            <a:ext cx="960120" cy="329184"/>
          </a:xfrm>
          <a:prstGeom prst="roundRect">
            <a:avLst/>
          </a:prstGeom>
          <a:solidFill>
            <a:srgbClr val="1F6F5B"/>
          </a:solidFill>
          <a:ln w="12700">
            <a:solidFill>
              <a:srgbClr val="1F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724912"/>
            <a:ext cx="83210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FAQ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560320"/>
            <a:ext cx="896112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defRPr sz="1800" b="0">
                <a:solidFill>
                  <a:srgbClr val="202624"/>
                </a:solidFill>
                <a:latin typeface="Malgun Gothic"/>
              </a:defRPr>
            </a:pPr>
            <a:r>
              <a:t>고객센터/상담: 고객센터, 전화, 운영시간 언급. / 상품문의/Q&amp;A: 문의 언급.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730752"/>
            <a:ext cx="960120" cy="329184"/>
          </a:xfrm>
          <a:prstGeom prst="roundRect">
            <a:avLst/>
          </a:prstGeom>
          <a:solidFill>
            <a:srgbClr val="1F6F5B"/>
          </a:solidFill>
          <a:ln w="12700">
            <a:solidFill>
              <a:srgbClr val="1F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803904"/>
            <a:ext cx="83210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후기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639312"/>
            <a:ext cx="896112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defRPr sz="1800" b="0">
                <a:solidFill>
                  <a:srgbClr val="202624"/>
                </a:solidFill>
                <a:latin typeface="Malgun Gothic"/>
              </a:defRPr>
            </a:pPr>
            <a:r>
              <a:t>MORE @official.goongbe 궁중비책 공식 인스타그램에 방문해보세요! / 모든 순간을 믿을 수 있도록 최선을 다합니다.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809744"/>
            <a:ext cx="960120" cy="329184"/>
          </a:xfrm>
          <a:prstGeom prst="roundRect">
            <a:avLst/>
          </a:prstGeom>
          <a:solidFill>
            <a:srgbClr val="1F6F5B"/>
          </a:solidFill>
          <a:ln w="12700">
            <a:solidFill>
              <a:srgbClr val="1F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882896"/>
            <a:ext cx="83210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경쟁사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4718304"/>
            <a:ext cx="8961120" cy="58521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>
              <a:defRPr sz="1800" b="0">
                <a:solidFill>
                  <a:srgbClr val="202624"/>
                </a:solidFill>
                <a:latin typeface="Malgun Gothic"/>
              </a:defRPr>
            </a:pPr>
            <a:r>
              <a:t>브랜드 신뢰: 고객센터 언급.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815584"/>
            <a:ext cx="10149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500" b="1">
                <a:solidFill>
                  <a:srgbClr val="68736F"/>
                </a:solidFill>
                <a:latin typeface="Malgun Gothic"/>
              </a:defRPr>
            </a:pPr>
            <a:r>
              <a:t>제안서에서는 단점이 비어 있더라도 FAQ와 고객센터 정보를 구매 불안 해소 장표로 배치합니다.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73952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7A817E"/>
                </a:solidFill>
                <a:latin typeface="Malgun Gothic"/>
              </a:defRPr>
            </a:pPr>
            <a:r>
              <a:t>Cosmetic sales proposal sample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37392" y="6455664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7A817E"/>
                </a:solidFill>
                <a:latin typeface="Malgun Gothi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1042416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3200" b="1">
                <a:solidFill>
                  <a:srgbClr val="18201E"/>
                </a:solidFill>
                <a:latin typeface="Malgun Gothic"/>
              </a:defRPr>
            </a:pPr>
            <a:r>
              <a:t>이 브랜드는 콘텐츠 증거와 상세페이지 개선을 함께 제안하는 편이 좋습니다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481328"/>
            <a:ext cx="108356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" y="1783080"/>
            <a:ext cx="914400" cy="329184"/>
          </a:xfrm>
          <a:prstGeom prst="roundRect">
            <a:avLst/>
          </a:prstGeom>
          <a:solidFill>
            <a:srgbClr val="E47C64"/>
          </a:solidFill>
          <a:ln w="12700">
            <a:solidFill>
              <a:srgbClr val="E47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" y="1856232"/>
            <a:ext cx="78638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1순위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664208"/>
            <a:ext cx="3291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200" b="1">
                <a:solidFill>
                  <a:srgbClr val="202624"/>
                </a:solidFill>
                <a:latin typeface="Malgun Gothic"/>
              </a:defRPr>
            </a:pPr>
            <a:r>
              <a:t>체험단/숏폼 리뷰 콘텐츠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645920"/>
            <a:ext cx="52578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68736F"/>
                </a:solidFill>
                <a:latin typeface="Malgun Gothic"/>
              </a:defRPr>
            </a:pPr>
            <a:r>
              <a:t>후기 강점형이라 실제 사용 장면과 만족 신호를 짧게 보여주는 콘텐츠가 가장 자연스럽습니다.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816352"/>
            <a:ext cx="108356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3118104"/>
            <a:ext cx="914400" cy="329184"/>
          </a:xfrm>
          <a:prstGeom prst="roundRect">
            <a:avLst/>
          </a:prstGeom>
          <a:solidFill>
            <a:srgbClr val="E47C64"/>
          </a:solidFill>
          <a:ln w="12700">
            <a:solidFill>
              <a:srgbClr val="E47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3191256"/>
            <a:ext cx="78638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2순위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99232"/>
            <a:ext cx="3291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200" b="1">
                <a:solidFill>
                  <a:srgbClr val="202624"/>
                </a:solidFill>
                <a:latin typeface="Malgun Gothic"/>
              </a:defRPr>
            </a:pPr>
            <a:r>
              <a:t>리뷰/FAQ 기반 상세페이지 개선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980944"/>
            <a:ext cx="52578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68736F"/>
                </a:solidFill>
                <a:latin typeface="Malgun Gothic"/>
              </a:defRPr>
            </a:pPr>
            <a:r>
              <a:t>FAQ와 장점 근거를 상세페이지의 구매 전 확인 포인트로 재배치합니다.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51376"/>
            <a:ext cx="10835640" cy="9418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" y="4453128"/>
            <a:ext cx="914400" cy="329184"/>
          </a:xfrm>
          <a:prstGeom prst="roundRect">
            <a:avLst/>
          </a:prstGeom>
          <a:solidFill>
            <a:srgbClr val="E47C64"/>
          </a:solidFill>
          <a:ln w="12700">
            <a:solidFill>
              <a:srgbClr val="E47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526280"/>
            <a:ext cx="786384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algun Gothic"/>
              </a:defRPr>
            </a:pPr>
            <a:r>
              <a:t>3순위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334256"/>
            <a:ext cx="329184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200" b="1">
                <a:solidFill>
                  <a:srgbClr val="202624"/>
                </a:solidFill>
                <a:latin typeface="Malgun Gothic"/>
              </a:defRPr>
            </a:pPr>
            <a:r>
              <a:t>제안메일용 PPT/이미지 카드 제작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315968"/>
            <a:ext cx="5257800" cy="38404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68736F"/>
                </a:solidFill>
                <a:latin typeface="Malgun Gothic"/>
              </a:defRPr>
            </a:pPr>
            <a:r>
              <a:t>영업메일 첫 화면에서 그룹 진단과 추천 이유를 한눈에 보여줍니다.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7A817E"/>
                </a:solidFill>
                <a:latin typeface="Malgun Gothic"/>
              </a:defRPr>
            </a:pPr>
            <a:r>
              <a:t>Cosmetic sales proposal sample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37392" y="6455664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7A817E"/>
                </a:solidFill>
                <a:latin typeface="Malgun Gothi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502920"/>
            <a:ext cx="10058400" cy="43891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3400" b="1">
                <a:solidFill>
                  <a:srgbClr val="18201E"/>
                </a:solidFill>
                <a:latin typeface="Malgun Gothic"/>
              </a:defRPr>
            </a:pPr>
            <a:r>
              <a:t>메일 이미지는 세 가지 배지만 보여줘도 충분합니다</a:t>
            </a:r>
          </a:p>
        </p:txBody>
      </p:sp>
      <p:pic>
        <p:nvPicPr>
          <p:cNvPr id="3" name="Picture 2" descr="goongbe_email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325880"/>
            <a:ext cx="5715000" cy="321868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720840" y="1417320"/>
            <a:ext cx="219456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500" b="1">
                <a:solidFill>
                  <a:srgbClr val="1F6F5B"/>
                </a:solidFill>
                <a:latin typeface="Malgun Gothic"/>
              </a:defRPr>
            </a:pPr>
            <a:r>
              <a:t>이미지 카피 배지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938528"/>
            <a:ext cx="3749039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31152" y="2039112"/>
            <a:ext cx="329184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1">
                <a:solidFill>
                  <a:srgbClr val="202624"/>
                </a:solidFill>
                <a:latin typeface="Malgun Gothic"/>
              </a:defRPr>
            </a:pPr>
            <a:r>
              <a:t>진정과 장벽 케어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2505456"/>
            <a:ext cx="3749039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31152" y="2606040"/>
            <a:ext cx="329184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1">
                <a:solidFill>
                  <a:srgbClr val="202624"/>
                </a:solidFill>
                <a:latin typeface="Malgun Gothic"/>
              </a:defRPr>
            </a:pPr>
            <a:r>
              <a:t>후기로 확인한 만족도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3072384"/>
            <a:ext cx="3749039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31152" y="3172968"/>
            <a:ext cx="329184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1">
                <a:solidFill>
                  <a:srgbClr val="202624"/>
                </a:solidFill>
                <a:latin typeface="Malgun Gothic"/>
              </a:defRPr>
            </a:pPr>
            <a:r>
              <a:t>구매 혜택 강조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3639312"/>
            <a:ext cx="3749039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31152" y="3739896"/>
            <a:ext cx="3291840" cy="128016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1">
                <a:solidFill>
                  <a:srgbClr val="202624"/>
                </a:solidFill>
                <a:latin typeface="Malgun Gothic"/>
              </a:defRPr>
            </a:pPr>
            <a:r>
              <a:t>은은한 사용감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4681728"/>
            <a:ext cx="3913632" cy="56692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600" b="0">
                <a:solidFill>
                  <a:srgbClr val="68736F"/>
                </a:solidFill>
                <a:latin typeface="Malgun Gothic"/>
              </a:defRPr>
            </a:pPr>
            <a:r>
              <a:t>치료/완치처럼 보이는 표현은 피하고, 사용감·성분·후기 근거 중심으로 안전하게 설계합니다.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7A817E"/>
                </a:solidFill>
                <a:latin typeface="Malgun Gothic"/>
              </a:defRPr>
            </a:pPr>
            <a:r>
              <a:t>Cosmetic sales proposal sample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37392" y="6455664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7A817E"/>
                </a:solidFill>
                <a:latin typeface="Malgun Gothi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804672"/>
            <a:ext cx="9692640" cy="7498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Malgun Gothic"/>
              </a:defRPr>
            </a:pPr>
            <a:r>
              <a:t>다음 작업은 브랜드별로 같은 구조를 반복 생산하는 것입니다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29260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700" b="1">
                <a:solidFill>
                  <a:srgbClr val="E7C46B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17320" y="2011680"/>
            <a:ext cx="84124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100" b="0">
                <a:solidFill>
                  <a:srgbClr val="F6F3EE"/>
                </a:solidFill>
                <a:latin typeface="Malgun Gothic"/>
              </a:defRPr>
            </a:pPr>
            <a:r>
              <a:t>검토필요 브랜드 90개는 URL/대표상품을 먼저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43784"/>
            <a:ext cx="29260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700" b="1">
                <a:solidFill>
                  <a:srgbClr val="E7C46B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798064"/>
            <a:ext cx="84124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100" b="0">
                <a:solidFill>
                  <a:srgbClr val="F6F3EE"/>
                </a:solidFill>
                <a:latin typeface="Malgun Gothic"/>
              </a:defRPr>
            </a:pPr>
            <a:r>
              <a:t>근거강도 3 이상 브랜드부터 제안메일 우선 발송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30168"/>
            <a:ext cx="29260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700" b="1">
                <a:solidFill>
                  <a:srgbClr val="E7C46B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3584448"/>
            <a:ext cx="84124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100" b="0">
                <a:solidFill>
                  <a:srgbClr val="F6F3EE"/>
                </a:solidFill>
                <a:latin typeface="Malgun Gothic"/>
              </a:defRPr>
            </a:pPr>
            <a:r>
              <a:t>그룹별 이미지 배지를 고정하고 브랜드명만 교체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16552"/>
            <a:ext cx="292608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>
              <a:defRPr sz="1700" b="1">
                <a:solidFill>
                  <a:srgbClr val="E7C46B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370832"/>
            <a:ext cx="8412480" cy="29260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2100" b="0">
                <a:solidFill>
                  <a:srgbClr val="F6F3EE"/>
                </a:solidFill>
                <a:latin typeface="Malgun Gothic"/>
              </a:defRPr>
            </a:pPr>
            <a:r>
              <a:t>PPT는 표지, 진단, 근거, 추천상품, 실행안 5장으로 축소 가능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6080760"/>
            <a:ext cx="6583680" cy="201168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1200" b="0">
                <a:solidFill>
                  <a:srgbClr val="B7C2BD"/>
                </a:solidFill>
                <a:latin typeface="Malgun Gothic"/>
              </a:defRPr>
            </a:pPr>
            <a:r>
              <a:t>샘플 파일 기준: ttamtti2_cosmetic_sales_grouping.csv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36576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>
              <a:defRPr sz="800" b="0">
                <a:solidFill>
                  <a:srgbClr val="7A817E"/>
                </a:solidFill>
                <a:latin typeface="Malgun Gothic"/>
              </a:defRPr>
            </a:pPr>
            <a:r>
              <a:t>Cosmetic sales proposal sample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37392" y="6455664"/>
            <a:ext cx="457200" cy="1828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>
              <a:defRPr sz="900" b="1">
                <a:solidFill>
                  <a:srgbClr val="7A817E"/>
                </a:solidFill>
                <a:latin typeface="Malgun Gothi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