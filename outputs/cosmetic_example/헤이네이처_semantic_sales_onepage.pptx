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78638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E0E0E"/>
                </a:solidFill>
                <a:latin typeface="Malgun Gothic"/>
              </a:defRPr>
            </a:pPr>
            <a:r>
              <a:t>헤이네이처 의미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87782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리뷰/FAQ/키워드에서 가까운 브랜드를 찾고, 제안할 영업상품을 자동 추천한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44752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2148840" cy="329184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56231"/>
            <a:ext cx="200253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783080"/>
            <a:ext cx="1645920" cy="329184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856231"/>
            <a:ext cx="149961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773168" y="1783080"/>
            <a:ext cx="1115568" cy="329184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856231"/>
            <a:ext cx="969264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87168"/>
            <a:ext cx="14630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E0E0E"/>
                </a:solidFill>
                <a:latin typeface="Malgun Gothic"/>
              </a:defRPr>
            </a:pPr>
            <a:r>
              <a:t>공유 키워드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907792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967228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진정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82496" y="2907792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2967228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88336" y="2907792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2967228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장벽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4176" y="2907792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967228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어성초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0016" y="2907792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2967228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평점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" y="3328416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387852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82496" y="3328416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9072" y="3387852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여드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88336" y="3328416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3387852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4176" y="3328416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3387852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많이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0016" y="3328416"/>
            <a:ext cx="841248" cy="274320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387852"/>
            <a:ext cx="768096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피부가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487168"/>
            <a:ext cx="1645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E0E0E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852928"/>
            <a:ext cx="2011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E0E0E"/>
                </a:solidFill>
                <a:latin typeface="Malgun Gothic"/>
              </a:defRPr>
            </a:pPr>
            <a:r>
              <a:t>1. 이소켈리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852928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0.2705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6"/>
            <a:ext cx="2011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0">
                <a:solidFill>
                  <a:srgbClr val="0E0E0E"/>
                </a:solidFill>
                <a:latin typeface="Malgun Gothic"/>
              </a:defRPr>
            </a:pPr>
            <a:r>
              <a:t>2. 뷰니오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236976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0.2088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621024"/>
            <a:ext cx="2011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0">
                <a:solidFill>
                  <a:srgbClr val="0E0E0E"/>
                </a:solidFill>
                <a:latin typeface="Malgun Gothic"/>
              </a:defRPr>
            </a:pPr>
            <a:r>
              <a:t>3. 만향소포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621024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0.1831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4005072"/>
            <a:ext cx="2011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0">
                <a:solidFill>
                  <a:srgbClr val="0E0E0E"/>
                </a:solidFill>
                <a:latin typeface="Malgun Gothic"/>
              </a:defRPr>
            </a:pPr>
            <a:r>
              <a:t>4. 디쥬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005072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0.1767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389120"/>
            <a:ext cx="2011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0">
                <a:solidFill>
                  <a:srgbClr val="0E0E0E"/>
                </a:solidFill>
                <a:latin typeface="Malgun Gothic"/>
              </a:defRPr>
            </a:pPr>
            <a:r>
              <a:t>5. 네클라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4389120"/>
            <a:ext cx="5943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0.1733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224528"/>
            <a:ext cx="5321808" cy="1024128"/>
          </a:xfrm>
          <a:prstGeom prst="rect">
            <a:avLst/>
          </a:prstGeom>
          <a:solidFill>
            <a:srgbClr val="F1F1F1"/>
          </a:solidFill>
          <a:ln>
            <a:solidFill>
              <a:srgbClr val="F1F1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4407408"/>
            <a:ext cx="21945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FF6B35"/>
                </a:solidFill>
                <a:latin typeface="Malgun Gothic"/>
              </a:defRPr>
            </a:pPr>
            <a:r>
              <a:t>의미기반추천영업상품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700016"/>
            <a:ext cx="47548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0E0E0E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800"/>
              </a:spcAft>
              <a:defRPr sz="1150">
                <a:solidFill>
                  <a:srgbClr val="0E0E0E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800"/>
              </a:spcAft>
              <a:defRPr sz="1150">
                <a:solidFill>
                  <a:srgbClr val="0E0E0E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800"/>
              </a:spcAft>
              <a:defRPr sz="1150">
                <a:solidFill>
                  <a:srgbClr val="0E0E0E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4224528"/>
            <a:ext cx="4773168" cy="10241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4407408"/>
            <a:ext cx="10972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FF6B35"/>
                </a:solidFill>
                <a:latin typeface="Malgun Gothic"/>
              </a:defRPr>
            </a:pPr>
            <a:r>
              <a:t>추천근거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4700016"/>
            <a:ext cx="4224528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E0E0E"/>
                </a:solidFill>
                <a:latin typeface="Malgun Gothic"/>
              </a:defRPr>
            </a:pPr>
            <a:r>
              <a:t>헤이네이처은(는) 장벽/진정/민감 케어 / 가격/혜택형 신호가 있고, 의미상 가까운 브랜드(이소켈리, 뷰니오, 만향소포)와 진정, 세트, 장벽, 어성초, 평점 키워드를 공유합니다. 따라서 리뷰/FAQ 기반 상세페이지 개선 + 네...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5742432"/>
            <a:ext cx="18288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147E74"/>
                </a:solidFill>
                <a:latin typeface="Malgun Gothic"/>
              </a:defRPr>
            </a:pPr>
            <a:r>
              <a:t>제안메일용 한 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5724144"/>
            <a:ext cx="813816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300" b="1">
                <a:solidFill>
                  <a:srgbClr val="0E0E0E"/>
                </a:solidFill>
                <a:latin typeface="Malgun Gothic"/>
              </a:defRPr>
            </a:pPr>
            <a:r>
              <a:t>헤이네이처는 진정, 세트, 장벽 신호가 있어 리뷰/FAQ 기반 상세페이지 개선 제안이 적합합니다.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6492240"/>
            <a:ext cx="3108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semantic brand recommender | no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