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804672"/>
            <a:ext cx="6766560" cy="1280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3600" b="1">
                <a:solidFill>
                  <a:srgbClr val="101010"/>
                </a:solidFill>
                <a:latin typeface="Malgun Gothic"/>
              </a:defRPr>
            </a:pPr>
            <a:r>
              <a:t>브랜드별 리뷰 기반</a:t>
            </a:r>
            <a:br/>
            <a:r>
              <a:t>광고 제안 샘플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395728"/>
            <a:ext cx="67665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0">
                <a:solidFill>
                  <a:srgbClr val="565656"/>
                </a:solidFill>
                <a:latin typeface="Malgun Gothic"/>
              </a:defRPr>
            </a:pPr>
            <a:r>
              <a:t>리뷰에서 고객 반응을 뽑고, 그 반응을 광고 카피와 이미지 방향으로 연결했습니다.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35240" y="786384"/>
            <a:ext cx="3749039" cy="507492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1078992"/>
            <a:ext cx="2011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700" b="1">
                <a:solidFill>
                  <a:srgbClr val="101010"/>
                </a:solidFill>
                <a:latin typeface="Malgun Gothic"/>
              </a:defRPr>
            </a:pPr>
            <a:r>
              <a:t>포함 브랜드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73568" y="1627632"/>
            <a:ext cx="5029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627632"/>
            <a:ext cx="22860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01010"/>
                </a:solidFill>
                <a:latin typeface="Malgun Gothic"/>
              </a:defRPr>
            </a:pPr>
            <a:r>
              <a:t>1.618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975104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2679191"/>
            <a:ext cx="5029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679191"/>
            <a:ext cx="22860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01010"/>
                </a:solidFill>
                <a:latin typeface="Malgun Gothic"/>
              </a:defRPr>
            </a:pPr>
            <a:r>
              <a:t>HYCL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026663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3730752"/>
            <a:ext cx="5029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730752"/>
            <a:ext cx="22860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01010"/>
                </a:solidFill>
                <a:latin typeface="Malgun Gothic"/>
              </a:defRPr>
            </a:pPr>
            <a:r>
              <a:t>헤이네이처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078224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장벽/진정/민감 케어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1.618 리뷰 기반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근거, 소구점, 광고 카피, 이미지 방향을 한 장에 정리했습니다.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2148840" cy="310896"/>
          </a:xfrm>
          <a:prstGeom prst="rect">
            <a:avLst/>
          </a:prstGeom>
          <a:solidFill>
            <a:srgbClr val="147E74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709928"/>
            <a:ext cx="2002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645920"/>
            <a:ext cx="1783080" cy="310896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09928"/>
            <a:ext cx="163677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가격/혜택형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645920"/>
            <a:ext cx="1115568" cy="310896"/>
          </a:xfrm>
          <a:prstGeom prst="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709928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근거 A등급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84831"/>
            <a:ext cx="132588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167127"/>
            <a:ext cx="110642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01010"/>
                </a:solidFill>
                <a:latin typeface="Malgun Gothic"/>
              </a:defRPr>
            </a:pPr>
            <a:r>
              <a:t>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23160"/>
            <a:ext cx="110642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리뷰 문장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9696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9424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47E74"/>
                </a:solidFill>
                <a:latin typeface="Malgun Gothic"/>
              </a:defRPr>
            </a:pPr>
            <a:r>
              <a:t>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9424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4992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FF6B35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주의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2084831"/>
            <a:ext cx="118872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2167127"/>
            <a:ext cx="96926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2A5BD7"/>
                </a:solidFill>
                <a:latin typeface="Malgun Gothic"/>
              </a:defRPr>
            </a:pPr>
            <a:r>
              <a:t>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016" y="2423160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우선순위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07792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리뷰 근거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218688"/>
            <a:ext cx="507492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만족 배송도 빠르고 흡수력도 좋아요~분사력은 안개분사가 아닌것 같아요~ 모공은 쏙!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1.618 티트리 클리어링 폼클렌저 150ml 재구매 10개째 선물도하고 좋아서 재구매 10개 이상 했어요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번들거리지 않아서 예민피부 지성분들 가을겨울철에 추천합니당 1.618 샐몬 퍼밍 슬리핑마스크 100g 만족 좋아요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52628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핵심 소구점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촉촉한 보습감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4495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9067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산뜻한 사용감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재구매 만족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4495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가격과 혜택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2" y="2084831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추천상품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414016"/>
            <a:ext cx="4526280" cy="8778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네이버 검색광고/쇼핑 키워드 패키지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혜택/재구매 CRM 소재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체험단/숏폼 리뷰 콘텐츠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2" y="3611880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광고 카피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931920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1.618, 다시 찾는 이유가 있는 스킨케어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만족 리뷰가 말해주는 데일리 케어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9632" y="4809744"/>
            <a:ext cx="14173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이미지 방향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5102352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제품 단독 컷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은은한 자연광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피부결이 보이는 사용 장면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5669280"/>
            <a:ext cx="5074920" cy="38404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779008"/>
            <a:ext cx="868680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80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73936" y="573328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5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1.618 고객 세그먼트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리뷰에서 확인한 관심사를 광고 메시지와 프로모션으로 나눴습니다.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2651760" cy="438912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856231"/>
            <a:ext cx="2468879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Malgun Gothic"/>
              </a:defRPr>
            </a:pPr>
            <a:r>
              <a:t>고객 세그먼트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3822191" y="1737360"/>
            <a:ext cx="2788920" cy="438912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13631" y="1856231"/>
            <a:ext cx="2606039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Malgun Gothic"/>
              </a:defRPr>
            </a:pPr>
            <a:r>
              <a:t>광고 메시지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7059168" y="1737360"/>
            <a:ext cx="3063240" cy="438912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7" y="1856231"/>
            <a:ext cx="288036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Malgun Gothic"/>
              </a:defRPr>
            </a:pPr>
            <a:r>
              <a:t>프로모션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487168"/>
            <a:ext cx="26517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688336"/>
            <a:ext cx="235915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01010"/>
                </a:solidFill>
                <a:latin typeface="Malgun Gothic"/>
              </a:defRPr>
            </a:pPr>
            <a:r>
              <a:t>재구매 가능 고객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22191" y="2487168"/>
            <a:ext cx="2788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68496" y="2688336"/>
            <a:ext cx="249631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만족 리뷰와 반복 구매 이유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59168" y="2487168"/>
            <a:ext cx="3063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2688336"/>
            <a:ext cx="277063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세트 할인 또는 리마인드 쿠폰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364992"/>
            <a:ext cx="2651760" cy="65836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566160"/>
            <a:ext cx="235915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01010"/>
                </a:solidFill>
                <a:latin typeface="Malgun Gothic"/>
              </a:defRPr>
            </a:pPr>
            <a:r>
              <a:t>혜택 반응 고객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22191" y="3364992"/>
            <a:ext cx="2788920" cy="65836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68496" y="3566160"/>
            <a:ext cx="249631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가격 부담을 낮추는 구성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59168" y="3364992"/>
            <a:ext cx="3063240" cy="65836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3566160"/>
            <a:ext cx="277063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첫 구매 쿠폰과 무료배송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" y="5303520"/>
            <a:ext cx="3337560" cy="566928"/>
          </a:xfrm>
          <a:prstGeom prst="rect">
            <a:avLst/>
          </a:prstGeom>
          <a:solidFill>
            <a:srgbClr val="EBF7F5"/>
          </a:solidFill>
          <a:ln>
            <a:solidFill>
              <a:srgbClr val="EB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477256"/>
            <a:ext cx="91440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0" b="1">
                <a:solidFill>
                  <a:srgbClr val="147E74"/>
                </a:solidFill>
                <a:latin typeface="Malgun Gothic"/>
              </a:defRPr>
            </a:pPr>
            <a:r>
              <a:t>소재 방향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47088" y="5422392"/>
            <a:ext cx="1828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80" b="1">
                <a:solidFill>
                  <a:srgbClr val="101010"/>
                </a:solidFill>
                <a:latin typeface="Malgun Gothic"/>
              </a:defRPr>
            </a:pPr>
            <a:r>
              <a:t>제품 단독 컷 / 은은한 자연광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0832" y="5303520"/>
            <a:ext cx="3063240" cy="56692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5477256"/>
            <a:ext cx="82296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0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76672" y="5404104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8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99248" y="5303520"/>
            <a:ext cx="2926080" cy="566928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82127" y="5477256"/>
            <a:ext cx="82296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0" b="1">
                <a:solidFill>
                  <a:srgbClr val="2A5BD7"/>
                </a:solidFill>
                <a:latin typeface="Malgun Gothic"/>
              </a:defRPr>
            </a:pPr>
            <a:r>
              <a:t>추천상품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05088" y="5404104"/>
            <a:ext cx="1481328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9" b="1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1.618 항목별 감성 근거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항목별 긍정/부정 반응을 나눠 광고 메시지의 우선순위를 정했습니다.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810512"/>
            <a:ext cx="242316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29384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810512"/>
            <a:ext cx="86868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30752" y="192938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810512"/>
            <a:ext cx="86868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92938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부정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10512"/>
            <a:ext cx="150876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1929384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활용방향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487168"/>
            <a:ext cx="2423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596896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재구매/만족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2487168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2596896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100%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2487168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5192" y="2596896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487168"/>
            <a:ext cx="1508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2596896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999232"/>
            <a:ext cx="24231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3108960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보습/촉촉함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2999232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0752" y="3108960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100%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2999232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65192" y="3108960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999232"/>
            <a:ext cx="15087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3108960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3511296"/>
            <a:ext cx="2423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3621024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가격/혜택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3511296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30752" y="362102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50%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3511296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65192" y="362102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3511296"/>
            <a:ext cx="1508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9632" y="3621024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서브 소구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4023360"/>
            <a:ext cx="24231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59" y="4133088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트러블/자극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0" y="4023360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30752" y="4133088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100%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92040" y="4023360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65192" y="4133088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4023360"/>
            <a:ext cx="15087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9632" y="4133088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4535424"/>
            <a:ext cx="2423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4645152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사용감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0" y="4535424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30752" y="4645152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100%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92040" y="4535424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65192" y="4645152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4535424"/>
            <a:ext cx="1508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99632" y="4645152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73568" y="1828800"/>
            <a:ext cx="2788920" cy="2148840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11312" y="2084831"/>
            <a:ext cx="100584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00" b="1">
                <a:solidFill>
                  <a:srgbClr val="FF6B35"/>
                </a:solidFill>
                <a:latin typeface="Malgun Gothic"/>
              </a:defRPr>
            </a:pPr>
            <a:r>
              <a:t>항목별 해석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11312" y="2542032"/>
            <a:ext cx="2057400" cy="78638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00" b="1">
                <a:solidFill>
                  <a:srgbClr val="101010"/>
                </a:solidFill>
                <a:latin typeface="Malgun Gothic"/>
              </a:defRPr>
            </a:pPr>
            <a:r>
              <a:t>메인 소구는 재구매/만족(100%+/0%-) / 보습/촉촉함(100%+/0%-), 보완 항목은 뚜렷한 부정 항목 낮음, 서브 메시지 검토 항목은 호불호 항목 낮음입니다.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73568" y="4343400"/>
            <a:ext cx="2788920" cy="1051560"/>
          </a:xfrm>
          <a:prstGeom prst="rect">
            <a:avLst/>
          </a:prstGeom>
          <a:solidFill>
            <a:srgbClr val="EBF7F5"/>
          </a:solidFill>
          <a:ln>
            <a:solidFill>
              <a:srgbClr val="EB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11312" y="4590288"/>
            <a:ext cx="914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47E74"/>
                </a:solidFill>
                <a:latin typeface="Malgun Gothic"/>
              </a:defRPr>
            </a:pPr>
            <a:r>
              <a:t>광고 적용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11312" y="4956048"/>
            <a:ext cx="20574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메인 소구는 전면 카피로, 보완 항목은 FAQ/혜택/상세페이지 문구로 분리합니다.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8" y="5916168"/>
            <a:ext cx="86868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30" b="1">
                <a:solidFill>
                  <a:srgbClr val="FF6B35"/>
                </a:solidFill>
                <a:latin typeface="Malgun Gothic"/>
              </a:defRPr>
            </a:pPr>
            <a:r>
              <a:t>제안 문장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64208" y="5852160"/>
            <a:ext cx="89611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01010"/>
                </a:solidFill>
                <a:latin typeface="Malgun Gothic"/>
              </a:defRPr>
            </a:pPr>
            <a:r>
              <a:t>1.618는 긍정 비율이 높은 항목을 메인 소구로 쓰고, 부정 또는 호불호 항목은 보완 메시지로 분리하는 제안이 적합합니다.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HYCL 리뷰 기반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근거, 소구점, 광고 카피, 이미지 방향을 한 장에 정리했습니다.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2148840" cy="310896"/>
          </a:xfrm>
          <a:prstGeom prst="rect">
            <a:avLst/>
          </a:prstGeom>
          <a:solidFill>
            <a:srgbClr val="147E74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709928"/>
            <a:ext cx="2002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645920"/>
            <a:ext cx="1783080" cy="310896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09928"/>
            <a:ext cx="163677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후기 강점형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645920"/>
            <a:ext cx="1115568" cy="310896"/>
          </a:xfrm>
          <a:prstGeom prst="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709928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근거 A등급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84831"/>
            <a:ext cx="132588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167127"/>
            <a:ext cx="110642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01010"/>
                </a:solidFill>
                <a:latin typeface="Malgun Gothic"/>
              </a:defRPr>
            </a:pPr>
            <a:r>
              <a:t>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23160"/>
            <a:ext cx="110642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리뷰 문장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9696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9424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47E74"/>
                </a:solidFill>
                <a:latin typeface="Malgun Gothic"/>
              </a:defRPr>
            </a:pPr>
            <a:r>
              <a:t>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9424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4992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FF6B35"/>
                </a:solidFill>
                <a:latin typeface="Malgun Gothic"/>
              </a:defRPr>
            </a:pPr>
            <a: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주의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2084831"/>
            <a:ext cx="118872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2167127"/>
            <a:ext cx="96926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2A5BD7"/>
                </a:solidFill>
                <a:latin typeface="Malgun Gothic"/>
              </a:defRPr>
            </a:pPr>
            <a:r>
              <a:t>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016" y="2423160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우선순위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07792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리뷰 근거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218688"/>
            <a:ext cx="507492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여복합성 4 하이클 바하 딥 포어 젤 클렌저 순하고 촉촉 착한 클렌저 뚜껑을 꽉 안 닫았더니 다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하이클 라하 톤앤글로우 소프트닝 세럼 좋다고 해서 샀어요!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첫단계로 써주시면 되는데 5세대 라하 펄피큘이라 보통의 스피큘 제품들에 비하면 무자극에 가깝다고 생각할 정도로 안따가워요.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52628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핵심 소구점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촉촉한 보습감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4495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9067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민감 피부 진정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재구매 만족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4495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클렌징 사용감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2" y="2084831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추천상품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414016"/>
            <a:ext cx="4526280" cy="8778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체험단/숏폼 리뷰 콘텐츠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네이버 검색광고/쇼핑 키워드 패키지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2" y="3611880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광고 카피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931920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HYCL, 민감한 피부가 먼저 알아보는 진정 케어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자극 걱정은 줄이고 촉촉한 편안함은 오래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9632" y="4809744"/>
            <a:ext cx="14173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이미지 방향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5102352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밝은 욕실 선반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어성초나 초록 식물 포인트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촉촉한 제형 클로즈업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5669280"/>
            <a:ext cx="5074920" cy="38404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779008"/>
            <a:ext cx="868680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80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73936" y="573328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5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HYCL 고객 세그먼트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리뷰에서 확인한 관심사를 광고 메시지와 프로모션으로 나눴습니다.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2651760" cy="438912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856231"/>
            <a:ext cx="2468879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Malgun Gothic"/>
              </a:defRPr>
            </a:pPr>
            <a:r>
              <a:t>고객 세그먼트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3822191" y="1737360"/>
            <a:ext cx="2788920" cy="438912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13631" y="1856231"/>
            <a:ext cx="2606039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Malgun Gothic"/>
              </a:defRPr>
            </a:pPr>
            <a:r>
              <a:t>광고 메시지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7059168" y="1737360"/>
            <a:ext cx="3063240" cy="438912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7" y="1856231"/>
            <a:ext cx="288036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Malgun Gothic"/>
              </a:defRPr>
            </a:pPr>
            <a:r>
              <a:t>프로모션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487168"/>
            <a:ext cx="26517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688336"/>
            <a:ext cx="235915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01010"/>
                </a:solidFill>
                <a:latin typeface="Malgun Gothic"/>
              </a:defRPr>
            </a:pPr>
            <a:r>
              <a:t>민감성 피부 관심 고객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22191" y="2487168"/>
            <a:ext cx="2788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68496" y="2688336"/>
            <a:ext cx="249631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성분 안정성과 자극 완화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59168" y="2487168"/>
            <a:ext cx="3063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2688336"/>
            <a:ext cx="277063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진정 라인 체험 키트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364992"/>
            <a:ext cx="2651760" cy="65836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566160"/>
            <a:ext cx="235915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01010"/>
                </a:solidFill>
                <a:latin typeface="Malgun Gothic"/>
              </a:defRPr>
            </a:pPr>
            <a:r>
              <a:t>재구매 가능 고객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22191" y="3364992"/>
            <a:ext cx="2788920" cy="65836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68496" y="3566160"/>
            <a:ext cx="249631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만족 리뷰와 반복 구매 이유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59168" y="3364992"/>
            <a:ext cx="3063240" cy="65836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3566160"/>
            <a:ext cx="277063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세트 할인 또는 리마인드 쿠폰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4242816"/>
            <a:ext cx="26517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4443984"/>
            <a:ext cx="235915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01010"/>
                </a:solidFill>
                <a:latin typeface="Malgun Gothic"/>
              </a:defRPr>
            </a:pPr>
            <a:r>
              <a:t>사용감 비교 고객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22191" y="4242816"/>
            <a:ext cx="2788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68496" y="4443984"/>
            <a:ext cx="249631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세안 후 편안함과 부드러운 제형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59168" y="4242816"/>
            <a:ext cx="3063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05472" y="4443984"/>
            <a:ext cx="277063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사용감 숏폼 리뷰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5303520"/>
            <a:ext cx="3337560" cy="566928"/>
          </a:xfrm>
          <a:prstGeom prst="rect">
            <a:avLst/>
          </a:prstGeom>
          <a:solidFill>
            <a:srgbClr val="EBF7F5"/>
          </a:solidFill>
          <a:ln>
            <a:solidFill>
              <a:srgbClr val="EB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477256"/>
            <a:ext cx="91440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0" b="1">
                <a:solidFill>
                  <a:srgbClr val="147E74"/>
                </a:solidFill>
                <a:latin typeface="Malgun Gothic"/>
              </a:defRPr>
            </a:pPr>
            <a:r>
              <a:t>소재 방향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47088" y="5422392"/>
            <a:ext cx="1828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80" b="1">
                <a:solidFill>
                  <a:srgbClr val="101010"/>
                </a:solidFill>
                <a:latin typeface="Malgun Gothic"/>
              </a:defRPr>
            </a:pPr>
            <a:r>
              <a:t>밝은 욕실 선반 / 어성초나 초록 식물 포인트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70832" y="5303520"/>
            <a:ext cx="3063240" cy="56692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53712" y="5477256"/>
            <a:ext cx="82296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0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76672" y="5404104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8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99248" y="5303520"/>
            <a:ext cx="2926080" cy="566928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82127" y="5477256"/>
            <a:ext cx="82296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0" b="1">
                <a:solidFill>
                  <a:srgbClr val="2A5BD7"/>
                </a:solidFill>
                <a:latin typeface="Malgun Gothic"/>
              </a:defRPr>
            </a:pPr>
            <a:r>
              <a:t>추천상품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5088" y="5404104"/>
            <a:ext cx="1481328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9" b="1">
                <a:solidFill>
                  <a:srgbClr val="101010"/>
                </a:solidFill>
                <a:latin typeface="Malgun Gothic"/>
              </a:defRPr>
            </a:pPr>
            <a:r>
              <a:t>체험단/숏폼 리뷰 콘텐츠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HYCL 항목별 감성 근거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항목별 긍정/부정 반응을 나눠 광고 메시지의 우선순위를 정했습니다.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810512"/>
            <a:ext cx="242316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29384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810512"/>
            <a:ext cx="86868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30752" y="192938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810512"/>
            <a:ext cx="86868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92938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부정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10512"/>
            <a:ext cx="150876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1929384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활용방향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487168"/>
            <a:ext cx="2423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596896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재구매/만족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2487168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2596896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95%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2487168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5192" y="2596896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487168"/>
            <a:ext cx="1508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2596896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999232"/>
            <a:ext cx="24231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3108960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트러블/자극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2999232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0752" y="3108960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50%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2999232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65192" y="3108960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42%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999232"/>
            <a:ext cx="15087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3108960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FF6B35"/>
                </a:solidFill>
                <a:latin typeface="Malgun Gothic"/>
              </a:defRPr>
            </a:pPr>
            <a:r>
              <a:t>보완 메시지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3511296"/>
            <a:ext cx="2423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3621024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보습/촉촉함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3511296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30752" y="362102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64%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3511296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65192" y="362102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9%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3511296"/>
            <a:ext cx="1508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9632" y="3621024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4023360"/>
            <a:ext cx="24231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59" y="4133088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사용감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0" y="4023360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30752" y="4133088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75%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92040" y="4023360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65192" y="4133088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4023360"/>
            <a:ext cx="15087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9632" y="4133088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4535424"/>
            <a:ext cx="2423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4645152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진정/장벽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0" y="4535424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30752" y="4645152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86%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92040" y="4535424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65192" y="4645152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4535424"/>
            <a:ext cx="1508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99632" y="4645152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73568" y="1828800"/>
            <a:ext cx="2788920" cy="2148840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11312" y="2084831"/>
            <a:ext cx="100584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00" b="1">
                <a:solidFill>
                  <a:srgbClr val="FF6B35"/>
                </a:solidFill>
                <a:latin typeface="Malgun Gothic"/>
              </a:defRPr>
            </a:pPr>
            <a:r>
              <a:t>항목별 해석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11312" y="2542032"/>
            <a:ext cx="2057400" cy="78638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00" b="1">
                <a:solidFill>
                  <a:srgbClr val="101010"/>
                </a:solidFill>
                <a:latin typeface="Malgun Gothic"/>
              </a:defRPr>
            </a:pPr>
            <a:r>
              <a:t>메인 소구는 재구매/만족(95%+/0%-) / 보습/촉촉함(64%+/9%-), 보완 항목은 트러블/자극(50%+/42%-), 서브 메시지 검토 항목은 트러블/자극(50%+/42%-)입니다.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73568" y="4343400"/>
            <a:ext cx="2788920" cy="1051560"/>
          </a:xfrm>
          <a:prstGeom prst="rect">
            <a:avLst/>
          </a:prstGeom>
          <a:solidFill>
            <a:srgbClr val="EBF7F5"/>
          </a:solidFill>
          <a:ln>
            <a:solidFill>
              <a:srgbClr val="EB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11312" y="4590288"/>
            <a:ext cx="914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47E74"/>
                </a:solidFill>
                <a:latin typeface="Malgun Gothic"/>
              </a:defRPr>
            </a:pPr>
            <a:r>
              <a:t>광고 적용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11312" y="4956048"/>
            <a:ext cx="20574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메인 소구는 전면 카피로, 보완 항목은 FAQ/혜택/상세페이지 문구로 분리합니다.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8" y="5916168"/>
            <a:ext cx="86868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30" b="1">
                <a:solidFill>
                  <a:srgbClr val="FF6B35"/>
                </a:solidFill>
                <a:latin typeface="Malgun Gothic"/>
              </a:defRPr>
            </a:pPr>
            <a:r>
              <a:t>제안 문장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64208" y="5852160"/>
            <a:ext cx="89611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01010"/>
                </a:solidFill>
                <a:latin typeface="Malgun Gothic"/>
              </a:defRPr>
            </a:pPr>
            <a:r>
              <a:t>HYCL는 긍정 비율이 높은 항목을 메인 소구로 쓰고, 부정 또는 호불호 항목은 보완 메시지로 분리하는 제안이 적합합니다.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헤이네이처 리뷰 기반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근거, 소구점, 광고 카피, 이미지 방향을 한 장에 정리했습니다.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2148840" cy="310896"/>
          </a:xfrm>
          <a:prstGeom prst="rect">
            <a:avLst/>
          </a:prstGeom>
          <a:solidFill>
            <a:srgbClr val="147E74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709928"/>
            <a:ext cx="2002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장벽/진정/민감 케어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645920"/>
            <a:ext cx="1783080" cy="310896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09928"/>
            <a:ext cx="163677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가격/혜택형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645920"/>
            <a:ext cx="1115568" cy="310896"/>
          </a:xfrm>
          <a:prstGeom prst="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709928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근거 A등급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84831"/>
            <a:ext cx="132588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167127"/>
            <a:ext cx="110642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01010"/>
                </a:solidFill>
                <a:latin typeface="Malgun Gothic"/>
              </a:defRPr>
            </a:pPr>
            <a:r>
              <a:t>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23160"/>
            <a:ext cx="110642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리뷰 문장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9696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9424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47E74"/>
                </a:solidFill>
                <a:latin typeface="Malgun Gothic"/>
              </a:defRPr>
            </a:pPr>
            <a:r>
              <a:t>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9424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4992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FF6B35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주의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2084831"/>
            <a:ext cx="118872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2167127"/>
            <a:ext cx="96926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2A5BD7"/>
                </a:solidFill>
                <a:latin typeface="Malgun Gothic"/>
              </a:defRPr>
            </a:pPr>
            <a:r>
              <a:t>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016" y="2423160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우선순위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07792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리뷰 근거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218688"/>
            <a:ext cx="507492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피부가 워낙 여드*성 피부고 툭하면 이것저것 많이 나고 자주 뒤집어지는데 헤이네이처 어성초 스킨 쓰면 확실히 진정되는 느낌이 있어요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피부가 나아질 기*가 안보였어요ㅠㅠ 첫날 피부 보시면 다들 아시겠지만 너무 심해서 거울보기도 싫을..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NEW 엑설런트 파리지앵 독특한 식물성 머스크 향인 앰브랫의 씨앗은 독특한 원료로 이 향수에서 우거진 나무를 연상하게 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52628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핵심 소구점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촉촉한 보습감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4495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9067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민감 피부 진정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재구매 만족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4495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가격과 혜택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2" y="2084831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추천상품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414016"/>
            <a:ext cx="4526280" cy="8778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네이버 검색광고/쇼핑 키워드 패키지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혜택/재구매 CRM 소재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제안메일용 PPT/이미지 카드 제작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2" y="3611880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광고 카피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931920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헤이네이처, 민감한 피부가 먼저 알아보는 진정 케어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자극 걱정은 줄이고 촉촉한 편안함은 오래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9632" y="4809744"/>
            <a:ext cx="14173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이미지 방향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5102352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밝은 욕실 선반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어성초나 초록 식물 포인트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촉촉한 제형 클로즈업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5669280"/>
            <a:ext cx="5074920" cy="38404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779008"/>
            <a:ext cx="868680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80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73936" y="573328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5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헤이네이처 고객 세그먼트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리뷰에서 확인한 관심사를 광고 메시지와 프로모션으로 나눴습니다.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2651760" cy="438912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856231"/>
            <a:ext cx="2468879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Malgun Gothic"/>
              </a:defRPr>
            </a:pPr>
            <a:r>
              <a:t>고객 세그먼트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3822191" y="1737360"/>
            <a:ext cx="2788920" cy="438912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13631" y="1856231"/>
            <a:ext cx="2606039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Malgun Gothic"/>
              </a:defRPr>
            </a:pPr>
            <a:r>
              <a:t>광고 메시지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7059168" y="1737360"/>
            <a:ext cx="3063240" cy="438912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7" y="1856231"/>
            <a:ext cx="288036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Malgun Gothic"/>
              </a:defRPr>
            </a:pPr>
            <a:r>
              <a:t>프로모션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487168"/>
            <a:ext cx="26517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688336"/>
            <a:ext cx="235915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01010"/>
                </a:solidFill>
                <a:latin typeface="Malgun Gothic"/>
              </a:defRPr>
            </a:pPr>
            <a:r>
              <a:t>민감성 피부 관심 고객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22191" y="2487168"/>
            <a:ext cx="2788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68496" y="2688336"/>
            <a:ext cx="249631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성분 안정성과 자극 완화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59168" y="2487168"/>
            <a:ext cx="3063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2688336"/>
            <a:ext cx="277063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진정 라인 체험 키트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364992"/>
            <a:ext cx="2651760" cy="65836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566160"/>
            <a:ext cx="235915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01010"/>
                </a:solidFill>
                <a:latin typeface="Malgun Gothic"/>
              </a:defRPr>
            </a:pPr>
            <a:r>
              <a:t>재구매 가능 고객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22191" y="3364992"/>
            <a:ext cx="2788920" cy="65836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68496" y="3566160"/>
            <a:ext cx="249631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만족 리뷰와 반복 구매 이유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59168" y="3364992"/>
            <a:ext cx="3063240" cy="65836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3566160"/>
            <a:ext cx="277063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세트 할인 또는 리마인드 쿠폰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4242816"/>
            <a:ext cx="26517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4443984"/>
            <a:ext cx="235915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01010"/>
                </a:solidFill>
                <a:latin typeface="Malgun Gothic"/>
              </a:defRPr>
            </a:pPr>
            <a:r>
              <a:t>혜택 반응 고객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22191" y="4242816"/>
            <a:ext cx="2788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68496" y="4443984"/>
            <a:ext cx="249631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가격 부담을 낮추는 구성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59168" y="4242816"/>
            <a:ext cx="3063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05472" y="4443984"/>
            <a:ext cx="277063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첫 구매 쿠폰과 무료배송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5303520"/>
            <a:ext cx="3337560" cy="566928"/>
          </a:xfrm>
          <a:prstGeom prst="rect">
            <a:avLst/>
          </a:prstGeom>
          <a:solidFill>
            <a:srgbClr val="EBF7F5"/>
          </a:solidFill>
          <a:ln>
            <a:solidFill>
              <a:srgbClr val="EB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477256"/>
            <a:ext cx="91440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0" b="1">
                <a:solidFill>
                  <a:srgbClr val="147E74"/>
                </a:solidFill>
                <a:latin typeface="Malgun Gothic"/>
              </a:defRPr>
            </a:pPr>
            <a:r>
              <a:t>소재 방향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47088" y="5422392"/>
            <a:ext cx="1828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80" b="1">
                <a:solidFill>
                  <a:srgbClr val="101010"/>
                </a:solidFill>
                <a:latin typeface="Malgun Gothic"/>
              </a:defRPr>
            </a:pPr>
            <a:r>
              <a:t>밝은 욕실 선반 / 어성초나 초록 식물 포인트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70832" y="5303520"/>
            <a:ext cx="3063240" cy="56692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53712" y="5477256"/>
            <a:ext cx="82296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0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76672" y="5404104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8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99248" y="5303520"/>
            <a:ext cx="2926080" cy="566928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82127" y="5477256"/>
            <a:ext cx="82296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0" b="1">
                <a:solidFill>
                  <a:srgbClr val="2A5BD7"/>
                </a:solidFill>
                <a:latin typeface="Malgun Gothic"/>
              </a:defRPr>
            </a:pPr>
            <a:r>
              <a:t>추천상품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5088" y="5404104"/>
            <a:ext cx="1481328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9" b="1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헤이네이처 항목별 감성 근거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항목별 긍정/부정 반응을 나눠 광고 메시지의 우선순위를 정했습니다.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810512"/>
            <a:ext cx="242316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29384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810512"/>
            <a:ext cx="86868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30752" y="192938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810512"/>
            <a:ext cx="86868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92938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부정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10512"/>
            <a:ext cx="150876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1929384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활용방향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487168"/>
            <a:ext cx="2423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596896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진정/장벽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2487168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2596896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100%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2487168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5192" y="2596896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487168"/>
            <a:ext cx="1508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2596896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999232"/>
            <a:ext cx="24231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3108960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가격/혜택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2999232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0752" y="3108960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58%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2999232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65192" y="3108960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999232"/>
            <a:ext cx="15087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3108960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3511296"/>
            <a:ext cx="2423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3621024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보습/촉촉함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3511296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30752" y="362102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100%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3511296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65192" y="362102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3511296"/>
            <a:ext cx="1508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9632" y="3621024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4023360"/>
            <a:ext cx="24231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59" y="4133088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재구매/만족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0" y="4023360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30752" y="4133088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67%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92040" y="4023360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65192" y="4133088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4023360"/>
            <a:ext cx="15087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9632" y="4133088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4535424"/>
            <a:ext cx="2423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4645152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0" y="4535424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30752" y="4645152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92040" y="4535424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65192" y="4645152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50%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4535424"/>
            <a:ext cx="1508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99632" y="4645152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FF6B35"/>
                </a:solidFill>
                <a:latin typeface="Malgun Gothic"/>
              </a:defRPr>
            </a:pPr>
            <a:r>
              <a:t>보완 메시지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73568" y="1828800"/>
            <a:ext cx="2788920" cy="2148840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11312" y="2084831"/>
            <a:ext cx="100584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00" b="1">
                <a:solidFill>
                  <a:srgbClr val="FF6B35"/>
                </a:solidFill>
                <a:latin typeface="Malgun Gothic"/>
              </a:defRPr>
            </a:pPr>
            <a:r>
              <a:t>항목별 해석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11312" y="2542032"/>
            <a:ext cx="2057400" cy="78638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00" b="1">
                <a:solidFill>
                  <a:srgbClr val="101010"/>
                </a:solidFill>
                <a:latin typeface="Malgun Gothic"/>
              </a:defRPr>
            </a:pPr>
            <a:r>
              <a:t>메인 소구는 진정/장벽(100%+/0%-) / 가격/혜택(58%+/0%-), 보완 항목은 향(0%+/50%-), 서브 메시지 검토 항목은 호불호 항목 낮음입니다.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73568" y="4343400"/>
            <a:ext cx="2788920" cy="1051560"/>
          </a:xfrm>
          <a:prstGeom prst="rect">
            <a:avLst/>
          </a:prstGeom>
          <a:solidFill>
            <a:srgbClr val="EBF7F5"/>
          </a:solidFill>
          <a:ln>
            <a:solidFill>
              <a:srgbClr val="EB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11312" y="4590288"/>
            <a:ext cx="914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47E74"/>
                </a:solidFill>
                <a:latin typeface="Malgun Gothic"/>
              </a:defRPr>
            </a:pPr>
            <a:r>
              <a:t>광고 적용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11312" y="4956048"/>
            <a:ext cx="20574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메인 소구는 전면 카피로, 보완 항목은 FAQ/혜택/상세페이지 문구로 분리합니다.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8" y="5916168"/>
            <a:ext cx="86868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30" b="1">
                <a:solidFill>
                  <a:srgbClr val="FF6B35"/>
                </a:solidFill>
                <a:latin typeface="Malgun Gothic"/>
              </a:defRPr>
            </a:pPr>
            <a:r>
              <a:t>제안 문장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64208" y="5852160"/>
            <a:ext cx="89611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01010"/>
                </a:solidFill>
                <a:latin typeface="Malgun Gothic"/>
              </a:defRPr>
            </a:pPr>
            <a:r>
              <a:t>헤이네이처는 긍정 비율이 높은 항목을 메인 소구로 쓰고, 부정 또는 호불호 항목은 보완 메시지로 분리하는 제안이 적합합니다.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리뷰가 말하는 소구점이 광고 방향을 결정합니다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문장, 소구점, 추천상품을 같이 보면 브랜드별 제안이 더 선명해집니다.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755648"/>
            <a:ext cx="10424160" cy="786384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938528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1.618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938528"/>
            <a:ext cx="28346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1">
                <a:solidFill>
                  <a:srgbClr val="147E74"/>
                </a:solidFill>
                <a:latin typeface="Malgun Gothic"/>
              </a:defRPr>
            </a:pPr>
            <a:r>
              <a:t>촉촉한 보습감 / 산뜻한 사용감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5312" y="1938528"/>
            <a:ext cx="4297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834639"/>
            <a:ext cx="10424160" cy="786384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01752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HYCL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017520"/>
            <a:ext cx="28346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1">
                <a:solidFill>
                  <a:srgbClr val="147E74"/>
                </a:solidFill>
                <a:latin typeface="Malgun Gothic"/>
              </a:defRPr>
            </a:pPr>
            <a:r>
              <a:t>촉촉한 보습감 / 민감 피부 진정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25312" y="3017520"/>
            <a:ext cx="4297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0">
                <a:solidFill>
                  <a:srgbClr val="101010"/>
                </a:solidFill>
                <a:latin typeface="Malgun Gothic"/>
              </a:defRPr>
            </a:pPr>
            <a:r>
              <a:t>체험단/숏폼 리뷰 콘텐츠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913631"/>
            <a:ext cx="10424160" cy="786384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096511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헤이네이처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096511"/>
            <a:ext cx="28346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1">
                <a:solidFill>
                  <a:srgbClr val="147E74"/>
                </a:solidFill>
                <a:latin typeface="Malgun Gothic"/>
              </a:defRPr>
            </a:pPr>
            <a:r>
              <a:t>촉촉한 보습감 / 민감 피부 진정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2" y="4096511"/>
            <a:ext cx="4297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5285232"/>
            <a:ext cx="10424160" cy="56692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5468112"/>
            <a:ext cx="100584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50" b="1">
                <a:solidFill>
                  <a:srgbClr val="FF6B35"/>
                </a:solidFill>
                <a:latin typeface="Malgun Gothic"/>
              </a:defRPr>
            </a:pPr>
            <a:r>
              <a:t>다음 작업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93392" y="5394960"/>
            <a:ext cx="7955279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101010"/>
                </a:solidFill>
                <a:latin typeface="Malgun Gothic"/>
              </a:defRPr>
            </a:pPr>
            <a:r>
              <a:t>브랜드별 리뷰 근거를 유지한 채 이미지 카드와 제안메일 본문까지 같은 구조로 확장합니다.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