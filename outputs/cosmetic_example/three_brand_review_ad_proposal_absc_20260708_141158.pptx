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804672"/>
            <a:ext cx="676656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3600" b="1">
                <a:solidFill>
                  <a:srgbClr val="101010"/>
                </a:solidFill>
                <a:latin typeface="Malgun Gothic"/>
              </a:defRPr>
            </a:pPr>
            <a:r>
              <a:t>브랜드별 리뷰 기반</a:t>
            </a:r>
            <a:br/>
            <a:r>
              <a:t>광고 제안 샘플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95728"/>
            <a:ext cx="67665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0">
                <a:solidFill>
                  <a:srgbClr val="565656"/>
                </a:solidFill>
                <a:latin typeface="Malgun Gothic"/>
              </a:defRPr>
            </a:pPr>
            <a:r>
              <a:t>리뷰에서 고객 반응을 뽑고, 그 반응을 광고 카피와 이미지 방향으로 연결했습니다.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35240" y="786384"/>
            <a:ext cx="3749039" cy="507492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078992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101010"/>
                </a:solidFill>
                <a:latin typeface="Malgun Gothic"/>
              </a:defRPr>
            </a:pPr>
            <a:r>
              <a:t>포함 브랜드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73568" y="1627632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627632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1.618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975104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2679191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679191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HYCL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026663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730752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730752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헤이네이처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078224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1.618 리뷰 기반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근거, 소구점, 광고 카피, 이미지 방향을 한 장에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09928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45920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가격/혜택형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45920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09928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32588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67127"/>
            <a:ext cx="110642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110642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47E74"/>
                </a:solidFill>
                <a:latin typeface="Malgun Gothic"/>
              </a:defRPr>
            </a:pPr>
            <a:r>
              <a:t>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FF6B35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084831"/>
            <a:ext cx="118872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167127"/>
            <a:ext cx="96926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A5BD7"/>
                </a:solidFill>
                <a:latin typeface="Malgun Gothic"/>
              </a:defRPr>
            </a:pPr>
            <a:r>
              <a:t>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423160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07792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18688"/>
            <a:ext cx="507492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만족 배송도 빠르고 흡수력도 좋아요~분사력은 안개분사가 아닌것 같아요~ 모공은 쏙!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1.618 티트리 클리어링 폼클렌저 150ml 재구매 10개째 선물도하고 좋아서 재구매 10개 이상 했어요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번들거리지 않아서 예민피부 지성분들 가을겨울철에 추천합니당 1.618 샐몬 퍼밍 슬리핑마스크 100g 만족 좋아요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핵심 소구점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촉촉한 보습감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495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산뜻한 사용감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가격과 혜택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2084831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414016"/>
            <a:ext cx="4526280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네이버 검색광고/쇼핑 키워드 패키지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혜택/재구매 CRM 소재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3611880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광고 카피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931920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1.618, 다시 찾는 이유가 있는 스킨케어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만족 리뷰가 말해주는 데일리 케어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4809744"/>
            <a:ext cx="14173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이미지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102352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제품 단독 컷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은은한 자연광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피부결이 보이는 사용 장면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69280"/>
            <a:ext cx="5074920" cy="38404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779008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" y="573328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1.618 고객 세그먼트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리뷰에서 확인한 관심사를 광고 메시지와 프로모션으로 나눴습니다.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2578608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2395727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고객 세그먼트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3320" y="1664208"/>
            <a:ext cx="2852928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59" y="1773936"/>
            <a:ext cx="2670048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광고 메시지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7059168" y="1664208"/>
            <a:ext cx="3017520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7" y="1773936"/>
            <a:ext cx="2834639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프로모션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67712"/>
            <a:ext cx="257860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23408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재구매 가능 고객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2267712"/>
            <a:ext cx="285292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2423160"/>
            <a:ext cx="26151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만족 리뷰와 반복 구매 이유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9168" y="2267712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423160"/>
            <a:ext cx="27797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세트 할인 또는 리마인드 쿠폰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017520"/>
            <a:ext cx="2578608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72968"/>
            <a:ext cx="23408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혜택 반응 고객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3017520"/>
            <a:ext cx="2852928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22191" y="3172968"/>
            <a:ext cx="26151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가격 부담을 낮추는 구성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9168" y="3017520"/>
            <a:ext cx="3017520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172968"/>
            <a:ext cx="27797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첫 구매 쿠폰과 무료배송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645152"/>
            <a:ext cx="1645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80" b="1">
                <a:solidFill>
                  <a:srgbClr val="101010"/>
                </a:solidFill>
                <a:latin typeface="Malgun Gothic"/>
              </a:defRPr>
            </a:pPr>
            <a:r>
              <a:t>항목별 감성 근거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956048"/>
            <a:ext cx="1828800" cy="29260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038344"/>
            <a:ext cx="1719072" cy="91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360" y="4956048"/>
            <a:ext cx="914400" cy="29260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35224" y="5038344"/>
            <a:ext cx="804672" cy="91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4956048"/>
            <a:ext cx="914400" cy="29260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15383" y="5038344"/>
            <a:ext cx="804672" cy="91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부정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0680" y="4956048"/>
            <a:ext cx="1508760" cy="29260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95544" y="5038344"/>
            <a:ext cx="1399031" cy="91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활용방향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5321808"/>
            <a:ext cx="18288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5385816"/>
            <a:ext cx="17190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20" b="1">
                <a:solidFill>
                  <a:srgbClr val="101010"/>
                </a:solidFill>
                <a:latin typeface="Malgun Gothic"/>
              </a:defRPr>
            </a:pPr>
            <a:r>
              <a:t>재구매/만족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360" y="5321808"/>
            <a:ext cx="9144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35224" y="5385816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5321808"/>
            <a:ext cx="9144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15383" y="5385816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0680" y="5321808"/>
            <a:ext cx="150876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95544" y="5385816"/>
            <a:ext cx="1399031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32704"/>
            <a:ext cx="1828800" cy="228600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5696712"/>
            <a:ext cx="17190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20" b="1">
                <a:solidFill>
                  <a:srgbClr val="101010"/>
                </a:solidFill>
                <a:latin typeface="Malgun Gothic"/>
              </a:defRPr>
            </a:pPr>
            <a:r>
              <a:t>보습/촉촉함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80360" y="5632704"/>
            <a:ext cx="914400" cy="228600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35224" y="5696712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5632704"/>
            <a:ext cx="914400" cy="228600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15383" y="5696712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40680" y="5632704"/>
            <a:ext cx="1508760" cy="228600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95544" y="5696712"/>
            <a:ext cx="1399031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3232" y="5943600"/>
            <a:ext cx="18288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" y="6007608"/>
            <a:ext cx="17190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20" b="1">
                <a:solidFill>
                  <a:srgbClr val="101010"/>
                </a:solidFill>
                <a:latin typeface="Malgun Gothic"/>
              </a:defRPr>
            </a:pPr>
            <a:r>
              <a:t>가격/혜택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80360" y="5943600"/>
            <a:ext cx="9144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35224" y="6007608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50%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60520" y="5943600"/>
            <a:ext cx="9144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15383" y="6007608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0680" y="5943600"/>
            <a:ext cx="150876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95544" y="6007608"/>
            <a:ext cx="1399031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1">
                <a:solidFill>
                  <a:srgbClr val="101010"/>
                </a:solidFill>
                <a:latin typeface="Malgun Gothic"/>
              </a:defRPr>
            </a:pPr>
            <a:r>
              <a:t>서브 소구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46520" y="4736592"/>
            <a:ext cx="4160520" cy="1078992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56832" y="4937760"/>
            <a:ext cx="86868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FF6B35"/>
                </a:solidFill>
                <a:latin typeface="Malgun Gothic"/>
              </a:defRPr>
            </a:pPr>
            <a:r>
              <a:t>항목별 해석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800" y="4855464"/>
            <a:ext cx="2651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19" b="1">
                <a:solidFill>
                  <a:srgbClr val="101010"/>
                </a:solidFill>
                <a:latin typeface="Malgun Gothic"/>
              </a:defRPr>
            </a:pPr>
            <a:r>
              <a:t>메인 소구는 재구매/만족(100%+/0%-) / 보습/촉촉함(100%+/0%-), 보완 항목은 뚜렷한 부정 항목 낮음, 서브 메시지 검토 항목은 호불호 항목 낮음입니다.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" y="6153912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제안 문장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64208" y="6089904"/>
            <a:ext cx="89611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40" b="1">
                <a:solidFill>
                  <a:srgbClr val="101010"/>
                </a:solidFill>
                <a:latin typeface="Malgun Gothic"/>
              </a:defRPr>
            </a:pPr>
            <a:r>
              <a:t>1.618는 리뷰에서 반복되는 관심사를 기준으로 고객군을 나누고, 각 고객군에 맞는 광고 문구와 혜택을 다르게 제안하는 방식이 적합합니다.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HYCL 리뷰 기반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근거, 소구점, 광고 카피, 이미지 방향을 한 장에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09928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45920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후기 강점형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45920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09928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32588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67127"/>
            <a:ext cx="110642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110642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47E74"/>
                </a:solidFill>
                <a:latin typeface="Malgun Gothic"/>
              </a:defRPr>
            </a:pPr>
            <a:r>
              <a:t>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FF6B35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084831"/>
            <a:ext cx="118872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167127"/>
            <a:ext cx="96926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A5BD7"/>
                </a:solidFill>
                <a:latin typeface="Malgun Gothic"/>
              </a:defRPr>
            </a:pPr>
            <a:r>
              <a:t>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423160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07792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18688"/>
            <a:ext cx="507492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여복합성 4 하이클 바하 딥 포어 젤 클렌저 순하고 촉촉 착한 클렌저 뚜껑을 꽉 안 닫았더니 다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하이클 라하 톤앤글로우 소프트닝 세럼 좋다고 해서 샀어요!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첫단계로 써주시면 되는데 5세대 라하 펄피큘이라 보통의 스피큘 제품들에 비하면 무자극에 가깝다고 생각할 정도로 안따가워요.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핵심 소구점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촉촉한 보습감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495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민감 피부 진정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클렌징 사용감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2084831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414016"/>
            <a:ext cx="4526280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네이버 검색광고/쇼핑 키워드 패키지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3611880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광고 카피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931920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HYCL, 민감한 피부가 먼저 알아보는 진정 케어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자극 걱정은 줄이고 촉촉한 편안함은 오래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4809744"/>
            <a:ext cx="14173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이미지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102352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밝은 욕실 선반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어성초나 초록 식물 포인트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촉촉한 제형 클로즈업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69280"/>
            <a:ext cx="5074920" cy="38404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779008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" y="573328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HYCL 고객 세그먼트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리뷰에서 확인한 관심사를 광고 메시지와 프로모션으로 나눴습니다.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2578608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2395727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고객 세그먼트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3320" y="1664208"/>
            <a:ext cx="2852928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59" y="1773936"/>
            <a:ext cx="2670048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광고 메시지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7059168" y="1664208"/>
            <a:ext cx="3017520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7" y="1773936"/>
            <a:ext cx="2834639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프로모션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67712"/>
            <a:ext cx="257860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23408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민감성 피부 관심 고객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2267712"/>
            <a:ext cx="285292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2423160"/>
            <a:ext cx="26151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성분 안정성과 자극 완화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9168" y="2267712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423160"/>
            <a:ext cx="27797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진정 라인 체험 키트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017520"/>
            <a:ext cx="2578608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72968"/>
            <a:ext cx="23408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재구매 가능 고객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3017520"/>
            <a:ext cx="2852928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22191" y="3172968"/>
            <a:ext cx="26151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만족 리뷰와 반복 구매 이유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9168" y="3017520"/>
            <a:ext cx="3017520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172968"/>
            <a:ext cx="27797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세트 할인 또는 리마인드 쿠폰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67328"/>
            <a:ext cx="257860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22776"/>
            <a:ext cx="23408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사용감 비교 고객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3320" y="3767328"/>
            <a:ext cx="285292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22191" y="3922776"/>
            <a:ext cx="26151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세안 후 편안함과 부드러운 제형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59168" y="3767328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3922776"/>
            <a:ext cx="27797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사용감 숏폼 리뷰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645152"/>
            <a:ext cx="1645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80" b="1">
                <a:solidFill>
                  <a:srgbClr val="101010"/>
                </a:solidFill>
                <a:latin typeface="Malgun Gothic"/>
              </a:defRPr>
            </a:pPr>
            <a:r>
              <a:t>항목별 감성 근거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4956048"/>
            <a:ext cx="1828800" cy="29260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5038344"/>
            <a:ext cx="1719072" cy="91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4956048"/>
            <a:ext cx="914400" cy="29260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35224" y="5038344"/>
            <a:ext cx="804672" cy="91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4956048"/>
            <a:ext cx="914400" cy="29260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15383" y="5038344"/>
            <a:ext cx="804672" cy="91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부정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40680" y="4956048"/>
            <a:ext cx="1508760" cy="29260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95544" y="5038344"/>
            <a:ext cx="1399031" cy="91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활용방향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5321808"/>
            <a:ext cx="18288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5385816"/>
            <a:ext cx="17190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20" b="1">
                <a:solidFill>
                  <a:srgbClr val="101010"/>
                </a:solidFill>
                <a:latin typeface="Malgun Gothic"/>
              </a:defRPr>
            </a:pPr>
            <a:r>
              <a:t>재구매/만족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360" y="5321808"/>
            <a:ext cx="9144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35224" y="5385816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95%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0520" y="5321808"/>
            <a:ext cx="9144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15383" y="5385816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0680" y="5321808"/>
            <a:ext cx="150876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5544" y="5385816"/>
            <a:ext cx="1399031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" y="5632704"/>
            <a:ext cx="1828800" cy="228600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" y="5696712"/>
            <a:ext cx="17190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20" b="1">
                <a:solidFill>
                  <a:srgbClr val="101010"/>
                </a:solidFill>
                <a:latin typeface="Malgun Gothic"/>
              </a:defRPr>
            </a:pPr>
            <a:r>
              <a:t>트러블/자극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80360" y="5632704"/>
            <a:ext cx="914400" cy="228600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35224" y="5696712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50%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60520" y="5632704"/>
            <a:ext cx="914400" cy="228600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15383" y="5696712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42%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40680" y="5632704"/>
            <a:ext cx="1508760" cy="228600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95544" y="5696712"/>
            <a:ext cx="1399031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1">
                <a:solidFill>
                  <a:srgbClr val="FF6B35"/>
                </a:solidFill>
                <a:latin typeface="Malgun Gothic"/>
              </a:defRPr>
            </a:pPr>
            <a:r>
              <a:t>보완 메시지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3232" y="5943600"/>
            <a:ext cx="18288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8096" y="6007608"/>
            <a:ext cx="17190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20" b="1">
                <a:solidFill>
                  <a:srgbClr val="101010"/>
                </a:solidFill>
                <a:latin typeface="Malgun Gothic"/>
              </a:defRPr>
            </a:pPr>
            <a:r>
              <a:t>보습/촉촉함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80360" y="5943600"/>
            <a:ext cx="9144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35224" y="6007608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64%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60520" y="5943600"/>
            <a:ext cx="9144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15383" y="6007608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9%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40680" y="5943600"/>
            <a:ext cx="150876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95544" y="6007608"/>
            <a:ext cx="1399031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46520" y="4736592"/>
            <a:ext cx="4160520" cy="1078992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56832" y="4937760"/>
            <a:ext cx="86868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FF6B35"/>
                </a:solidFill>
                <a:latin typeface="Malgun Gothic"/>
              </a:defRPr>
            </a:pPr>
            <a:r>
              <a:t>항목별 해석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43800" y="4855464"/>
            <a:ext cx="2651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19" b="1">
                <a:solidFill>
                  <a:srgbClr val="101010"/>
                </a:solidFill>
                <a:latin typeface="Malgun Gothic"/>
              </a:defRPr>
            </a:pPr>
            <a:r>
              <a:t>메인 소구는 재구매/만족(95%+/0%-) / 보습/촉촉함(64%+/9%-), 보완 항목은 트러블/자극(50%+/42%-), 서브 메시지 검토 항목은 트러블/자극(50%+/42%-)입니다.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808" y="6153912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제안 문장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64208" y="6089904"/>
            <a:ext cx="89611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40" b="1">
                <a:solidFill>
                  <a:srgbClr val="101010"/>
                </a:solidFill>
                <a:latin typeface="Malgun Gothic"/>
              </a:defRPr>
            </a:pPr>
            <a:r>
              <a:t>HYCL는 리뷰에서 반복되는 관심사를 기준으로 고객군을 나누고, 각 고객군에 맞는 광고 문구와 혜택을 다르게 제안하는 방식이 적합합니다.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헤이네이처 리뷰 기반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근거, 소구점, 광고 카피, 이미지 방향을 한 장에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09928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45920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가격/혜택형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45920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09928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32588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67127"/>
            <a:ext cx="110642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110642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47E74"/>
                </a:solidFill>
                <a:latin typeface="Malgun Gothic"/>
              </a:defRPr>
            </a:pPr>
            <a: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FF6B35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084831"/>
            <a:ext cx="118872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167127"/>
            <a:ext cx="96926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A5BD7"/>
                </a:solidFill>
                <a:latin typeface="Malgun Gothic"/>
              </a:defRPr>
            </a:pPr>
            <a:r>
              <a:t>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423160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07792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18688"/>
            <a:ext cx="507492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피부가 워낙 여드*성 피부고 툭하면 이것저것 많이 나고 자주 뒤집어지는데 헤이네이처 어성초 스킨 쓰면 확실히 진정되는 느낌이 있어요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피부가 나아질 기*가 안보였어요ㅠㅠ 첫날 피부 보시면 다들 아시겠지만 너무 심해서 거울보기도 싫을..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NEW 엑설런트 파리지앵 독특한 식물성 머스크 향인 앰브랫의 씨앗은 독특한 원료로 이 향수에서 우거진 나무를 연상하게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핵심 소구점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촉촉한 보습감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495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민감 피부 진정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가격과 혜택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2084831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414016"/>
            <a:ext cx="4526280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네이버 검색광고/쇼핑 키워드 패키지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혜택/재구매 CRM 소재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제안메일용 PPT/이미지 카드 제작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3611880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광고 카피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931920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헤이네이처, 민감한 피부가 먼저 알아보는 진정 케어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자극 걱정은 줄이고 촉촉한 편안함은 오래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4809744"/>
            <a:ext cx="14173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이미지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102352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밝은 욕실 선반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어성초나 초록 식물 포인트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촉촉한 제형 클로즈업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69280"/>
            <a:ext cx="5074920" cy="38404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779008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" y="573328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헤이네이처 고객 세그먼트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리뷰에서 확인한 관심사를 광고 메시지와 프로모션으로 나눴습니다.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2578608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2395727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고객 세그먼트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3320" y="1664208"/>
            <a:ext cx="2852928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59" y="1773936"/>
            <a:ext cx="2670048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광고 메시지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7059168" y="1664208"/>
            <a:ext cx="3017520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7" y="1773936"/>
            <a:ext cx="2834639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프로모션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67712"/>
            <a:ext cx="257860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23408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민감성 피부 관심 고객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2267712"/>
            <a:ext cx="285292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2423160"/>
            <a:ext cx="26151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성분 안정성과 자극 완화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9168" y="2267712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423160"/>
            <a:ext cx="27797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진정 라인 체험 키트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017520"/>
            <a:ext cx="2578608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72968"/>
            <a:ext cx="23408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재구매 가능 고객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3017520"/>
            <a:ext cx="2852928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22191" y="3172968"/>
            <a:ext cx="26151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만족 리뷰와 반복 구매 이유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9168" y="3017520"/>
            <a:ext cx="3017520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172968"/>
            <a:ext cx="27797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세트 할인 또는 리마인드 쿠폰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67328"/>
            <a:ext cx="257860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22776"/>
            <a:ext cx="23408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혜택 반응 고객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3320" y="3767328"/>
            <a:ext cx="285292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22191" y="3922776"/>
            <a:ext cx="26151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가격 부담을 낮추는 구성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59168" y="3767328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3922776"/>
            <a:ext cx="27797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첫 구매 쿠폰과 무료배송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645152"/>
            <a:ext cx="1645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80" b="1">
                <a:solidFill>
                  <a:srgbClr val="101010"/>
                </a:solidFill>
                <a:latin typeface="Malgun Gothic"/>
              </a:defRPr>
            </a:pPr>
            <a:r>
              <a:t>항목별 감성 근거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4956048"/>
            <a:ext cx="1828800" cy="29260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5038344"/>
            <a:ext cx="1719072" cy="91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4956048"/>
            <a:ext cx="914400" cy="29260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35224" y="5038344"/>
            <a:ext cx="804672" cy="91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4956048"/>
            <a:ext cx="914400" cy="29260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15383" y="5038344"/>
            <a:ext cx="804672" cy="91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부정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40680" y="4956048"/>
            <a:ext cx="1508760" cy="29260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95544" y="5038344"/>
            <a:ext cx="1399031" cy="91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활용방향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5321808"/>
            <a:ext cx="18288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5385816"/>
            <a:ext cx="17190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20" b="1">
                <a:solidFill>
                  <a:srgbClr val="101010"/>
                </a:solidFill>
                <a:latin typeface="Malgun Gothic"/>
              </a:defRPr>
            </a:pPr>
            <a:r>
              <a:t>진정/장벽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360" y="5321808"/>
            <a:ext cx="9144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35224" y="5385816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0520" y="5321808"/>
            <a:ext cx="9144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15383" y="5385816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0680" y="5321808"/>
            <a:ext cx="150876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5544" y="5385816"/>
            <a:ext cx="1399031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" y="5632704"/>
            <a:ext cx="1828800" cy="228600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" y="5696712"/>
            <a:ext cx="17190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20" b="1">
                <a:solidFill>
                  <a:srgbClr val="101010"/>
                </a:solidFill>
                <a:latin typeface="Malgun Gothic"/>
              </a:defRPr>
            </a:pPr>
            <a:r>
              <a:t>가격/혜택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80360" y="5632704"/>
            <a:ext cx="914400" cy="228600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35224" y="5696712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58%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60520" y="5632704"/>
            <a:ext cx="914400" cy="228600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15383" y="5696712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40680" y="5632704"/>
            <a:ext cx="1508760" cy="228600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95544" y="5696712"/>
            <a:ext cx="1399031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3232" y="5943600"/>
            <a:ext cx="18288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8096" y="6007608"/>
            <a:ext cx="17190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20" b="1">
                <a:solidFill>
                  <a:srgbClr val="101010"/>
                </a:solidFill>
                <a:latin typeface="Malgun Gothic"/>
              </a:defRPr>
            </a:pPr>
            <a:r>
              <a:t>보습/촉촉함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80360" y="5943600"/>
            <a:ext cx="9144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35224" y="6007608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60520" y="5943600"/>
            <a:ext cx="9144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15383" y="6007608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40680" y="5943600"/>
            <a:ext cx="150876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95544" y="6007608"/>
            <a:ext cx="1399031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46520" y="4736592"/>
            <a:ext cx="4160520" cy="1078992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56832" y="4937760"/>
            <a:ext cx="86868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FF6B35"/>
                </a:solidFill>
                <a:latin typeface="Malgun Gothic"/>
              </a:defRPr>
            </a:pPr>
            <a:r>
              <a:t>항목별 해석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43800" y="4855464"/>
            <a:ext cx="2651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19" b="1">
                <a:solidFill>
                  <a:srgbClr val="101010"/>
                </a:solidFill>
                <a:latin typeface="Malgun Gothic"/>
              </a:defRPr>
            </a:pPr>
            <a:r>
              <a:t>메인 소구는 진정/장벽(100%+/0%-) / 가격/혜택(58%+/0%-), 보완 항목은 향(0%+/50%-), 서브 메시지 검토 항목은 호불호 항목 낮음입니다.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808" y="6153912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제안 문장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64208" y="6089904"/>
            <a:ext cx="89611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40" b="1">
                <a:solidFill>
                  <a:srgbClr val="101010"/>
                </a:solidFill>
                <a:latin typeface="Malgun Gothic"/>
              </a:defRPr>
            </a:pPr>
            <a:r>
              <a:t>헤이네이처는 리뷰에서 반복되는 관심사를 기준으로 고객군을 나누고, 각 고객군에 맞는 광고 문구와 혜택을 다르게 제안하는 방식이 적합합니다.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리뷰가 말하는 소구점이 광고 방향을 결정합니다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문장, 소구점, 추천상품을 같이 보면 브랜드별 제안이 더 선명해집니다.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755648"/>
            <a:ext cx="10424160" cy="786384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38528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1.618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938528"/>
            <a:ext cx="2834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촉촉한 보습감 / 산뜻한 사용감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5312" y="1938528"/>
            <a:ext cx="4297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834639"/>
            <a:ext cx="10424160" cy="786384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01752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HYCL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017520"/>
            <a:ext cx="2834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촉촉한 보습감 / 민감 피부 진정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25312" y="3017520"/>
            <a:ext cx="4297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913631"/>
            <a:ext cx="10424160" cy="786384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096511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헤이네이처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096511"/>
            <a:ext cx="2834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촉촉한 보습감 / 민감 피부 진정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4096511"/>
            <a:ext cx="4297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5285232"/>
            <a:ext cx="10424160" cy="56692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468112"/>
            <a:ext cx="10058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50" b="1">
                <a:solidFill>
                  <a:srgbClr val="FF6B35"/>
                </a:solidFill>
                <a:latin typeface="Malgun Gothic"/>
              </a:defRPr>
            </a:pPr>
            <a:r>
              <a:t>다음 작업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5394960"/>
            <a:ext cx="7955279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101010"/>
                </a:solidFill>
                <a:latin typeface="Malgun Gothic"/>
              </a:defRPr>
            </a:pPr>
            <a:r>
              <a:t>브랜드별 리뷰 근거를 유지한 채 이미지 카드와 제안메일 본문까지 같은 구조로 확장합니다.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