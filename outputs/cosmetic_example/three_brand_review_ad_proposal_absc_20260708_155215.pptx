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804672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600" b="1">
                <a:solidFill>
                  <a:srgbClr val="101010"/>
                </a:solidFill>
                <a:latin typeface="Malgun Gothic"/>
              </a:defRPr>
            </a:pPr>
            <a:r>
              <a:t>브랜드별 리뷰 기반</a:t>
            </a:r>
            <a:br/>
            <a:r>
              <a:t>광고 제안 샘플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395728"/>
            <a:ext cx="676656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0">
                <a:solidFill>
                  <a:srgbClr val="565656"/>
                </a:solidFill>
                <a:latin typeface="Malgun Gothic"/>
              </a:defRPr>
            </a:pPr>
            <a:r>
              <a:t>리뷰에서 고객 반응을 뽑고, 그 반응을 광고 카피와 이미지 방향으로 연결했습니다.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35240" y="786384"/>
            <a:ext cx="3749039" cy="507492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078992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101010"/>
                </a:solidFill>
                <a:latin typeface="Malgun Gothic"/>
              </a:defRPr>
            </a:pPr>
            <a:r>
              <a:t>포함 브랜드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73568" y="162763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62763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97510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679191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679191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026663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730752"/>
            <a:ext cx="50292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730752"/>
            <a:ext cx="22860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8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078224"/>
            <a:ext cx="24688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만족 배송도 빠르고 흡수력도 좋아요~분사력은 안개분사가 아닌것 같아요~ 모공은 쏙!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1.618 티트리 클리어링 폼클렌저 150ml 재구매 10개째 선물도하고 좋아서 재구매 10개 이상 했어요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번들거리지 않아서 예민피부 지성분들 가을겨울철에 추천합니당 1.618 샐몬 퍼밍 슬리핑마스크 100g 만족 좋아요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산뜻한 사용감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가격과 혜택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2048256"/>
            <a:ext cx="4572000" cy="157276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2286000"/>
            <a:ext cx="10972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FF6B35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670048"/>
            <a:ext cx="3767328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01010"/>
                </a:solidFill>
                <a:latin typeface="Malgun Gothic"/>
              </a:defRPr>
            </a:pPr>
            <a:r>
              <a:t>1.618, 다시 찾는 이유가 있는 스킨케어</a:t>
            </a:r>
          </a:p>
          <a:p>
            <a:pPr>
              <a:spcAft>
                <a:spcPts val="500"/>
              </a:spcAft>
              <a:defRPr sz="1400">
                <a:solidFill>
                  <a:srgbClr val="101010"/>
                </a:solidFill>
                <a:latin typeface="Malgun Gothic"/>
              </a:defRPr>
            </a:pPr>
            <a:r>
              <a:t>만족 리뷰가 말해주는 데일리 케어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4005072"/>
            <a:ext cx="4572000" cy="1499616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4242816"/>
            <a:ext cx="12344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47E74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608576"/>
            <a:ext cx="3767328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01010"/>
                </a:solidFill>
                <a:latin typeface="Malgun Gothic"/>
              </a:defRPr>
            </a:pPr>
            <a:r>
              <a:t>제품 단독 컷</a:t>
            </a:r>
          </a:p>
          <a:p>
            <a:pPr>
              <a:spcAft>
                <a:spcPts val="500"/>
              </a:spcAft>
              <a:defRPr sz="1300">
                <a:solidFill>
                  <a:srgbClr val="101010"/>
                </a:solidFill>
                <a:latin typeface="Malgun Gothic"/>
              </a:defRPr>
            </a:pPr>
            <a:r>
              <a:t>은은한 자연광</a:t>
            </a:r>
          </a:p>
          <a:p>
            <a:pPr>
              <a:spcAft>
                <a:spcPts val="500"/>
              </a:spcAft>
              <a:defRPr sz="1300">
                <a:solidFill>
                  <a:srgbClr val="101010"/>
                </a:solidFill>
                <a:latin typeface="Malgun Gothic"/>
              </a:defRPr>
            </a:pPr>
            <a:r>
              <a:t>피부결이 보이는 사용 장면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고객 세그먼트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관심사를 광고 메시지와 프로모션으로 나눴습니다.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265176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56231"/>
            <a:ext cx="2468879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고객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822191" y="1737360"/>
            <a:ext cx="278892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13631" y="1856231"/>
            <a:ext cx="2606039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737360"/>
            <a:ext cx="306324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856231"/>
            <a:ext cx="28803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487168"/>
            <a:ext cx="2651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688336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22191" y="2487168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2688336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2487168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2688336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364992"/>
            <a:ext cx="265176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566160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혜택 반응 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22191" y="3364992"/>
            <a:ext cx="278892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8496" y="3566160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가격 부담을 낮추는 구성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364992"/>
            <a:ext cx="306324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566160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첫 구매 쿠폰과 무료배송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5303520"/>
            <a:ext cx="3337560" cy="566928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477256"/>
            <a:ext cx="91440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147E74"/>
                </a:solidFill>
                <a:latin typeface="Malgun Gothic"/>
              </a:defRPr>
            </a:pPr>
            <a:r>
              <a:t>소재 방향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088" y="5422392"/>
            <a:ext cx="1828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1">
                <a:solidFill>
                  <a:srgbClr val="101010"/>
                </a:solidFill>
                <a:latin typeface="Malgun Gothic"/>
              </a:defRPr>
            </a:pPr>
            <a:r>
              <a:t>제품 단독 컷 / 은은한 자연광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2" y="5303520"/>
            <a:ext cx="3063240" cy="5669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5477256"/>
            <a:ext cx="8229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672" y="5404104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8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99248" y="5303520"/>
            <a:ext cx="2926080" cy="56692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82127" y="5477256"/>
            <a:ext cx="8229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2A5BD7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5088" y="5404104"/>
            <a:ext cx="1481328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9" b="1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1.618 항목별 감성 근거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항목별 긍정/부정 반응을 나눠 광고 메시지의 우선순위를 정했습니다.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810512"/>
            <a:ext cx="242316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29384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810512"/>
            <a:ext cx="86868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192938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810512"/>
            <a:ext cx="86868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92938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부정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10512"/>
            <a:ext cx="150876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929384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활용방향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487168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596896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재구매/만족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48716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596896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48716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5192" y="2596896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487168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596896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999232"/>
            <a:ext cx="24231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108960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보습/촉촉함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999232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3108960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2999232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3108960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999232"/>
            <a:ext cx="15087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108960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511296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3621024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가격/혜택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3511296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0752" y="362102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50%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3511296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65192" y="362102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511296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3621024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서브 소구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4023360"/>
            <a:ext cx="24231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4133088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트러블/자극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4023360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30752" y="4133088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040" y="4023360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65192" y="4133088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023360"/>
            <a:ext cx="15087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4133088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4535424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4645152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사용감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453542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30752" y="4645152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92040" y="453542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65192" y="4645152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4535424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9632" y="4645152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73568" y="1828800"/>
            <a:ext cx="2788920" cy="2148840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11312" y="2084831"/>
            <a:ext cx="10058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FF6B35"/>
                </a:solidFill>
                <a:latin typeface="Malgun Gothic"/>
              </a:defRPr>
            </a:pPr>
            <a:r>
              <a:t>항목별 해석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1312" y="2542032"/>
            <a:ext cx="2057400" cy="78638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101010"/>
                </a:solidFill>
                <a:latin typeface="Malgun Gothic"/>
              </a:defRPr>
            </a:pPr>
            <a:r>
              <a:t>메인 소구는 재구매/만족(100%+/0%-) / 보습/촉촉함(100%+/0%-), 보완 항목은 뚜렷한 부정 항목 낮음, 서브 메시지 검토 항목은 호불호 항목 낮음입니다.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73568" y="4343400"/>
            <a:ext cx="2788920" cy="1051560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1312" y="4590288"/>
            <a:ext cx="914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47E74"/>
                </a:solidFill>
                <a:latin typeface="Malgun Gothic"/>
              </a:defRPr>
            </a:pPr>
            <a:r>
              <a:t>광고 적용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4956048"/>
            <a:ext cx="2057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메인 소구는 전면 카피로, 보완 항목은 FAQ/혜택/상세페이지 문구로 분리합니다.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5916168"/>
            <a:ext cx="8686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3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64208" y="5852160"/>
            <a:ext cx="8961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1.618는 긍정 비율이 높은 항목을 메인 소구로 쓰고, 부정 또는 호불호 항목은 보완 메시지로 분리하는 제안이 적합합니다.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후기 강점형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여복합성 4 하이클 바하 딥 포어 젤 클렌저 순하고 촉촉 착한 클렌저 뚜껑을 꽉 안 닫았더니 다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하이클 라하 톤앤글로우 소프트닝 세럼 좋다고 해서 샀어요!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첫단계로 써주시면 되는데 5세대 라하 펄피큘이라 보통의 스피큘 제품들에 비하면 무자극에 가깝다고 생각할 정도로 안따가워요.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민감 피부 진정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클렌징 사용감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2048256"/>
            <a:ext cx="4572000" cy="157276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2286000"/>
            <a:ext cx="10972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FF6B35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670048"/>
            <a:ext cx="3767328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01010"/>
                </a:solidFill>
                <a:latin typeface="Malgun Gothic"/>
              </a:defRPr>
            </a:pPr>
            <a:r>
              <a:t>HYCL, 민감한 피부가 먼저 알아보는 진정 케어</a:t>
            </a:r>
          </a:p>
          <a:p>
            <a:pPr>
              <a:spcAft>
                <a:spcPts val="500"/>
              </a:spcAft>
              <a:defRPr sz="1400">
                <a:solidFill>
                  <a:srgbClr val="101010"/>
                </a:solidFill>
                <a:latin typeface="Malgun Gothic"/>
              </a:defRPr>
            </a:pPr>
            <a:r>
              <a:t>자극 걱정은 줄이고 촉촉한 편안함은 오래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4005072"/>
            <a:ext cx="4572000" cy="1499616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4242816"/>
            <a:ext cx="12344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47E74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608576"/>
            <a:ext cx="3767328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01010"/>
                </a:solidFill>
                <a:latin typeface="Malgun Gothic"/>
              </a:defRPr>
            </a:pPr>
            <a:r>
              <a:t>밝은 욕실 선반</a:t>
            </a:r>
          </a:p>
          <a:p>
            <a:pPr>
              <a:spcAft>
                <a:spcPts val="500"/>
              </a:spcAft>
              <a:defRPr sz="1300">
                <a:solidFill>
                  <a:srgbClr val="101010"/>
                </a:solidFill>
                <a:latin typeface="Malgun Gothic"/>
              </a:defRPr>
            </a:pPr>
            <a:r>
              <a:t>어성초나 초록 식물 포인트</a:t>
            </a:r>
          </a:p>
          <a:p>
            <a:pPr>
              <a:spcAft>
                <a:spcPts val="500"/>
              </a:spcAft>
              <a:defRPr sz="1300">
                <a:solidFill>
                  <a:srgbClr val="101010"/>
                </a:solidFill>
                <a:latin typeface="Malgun Gothic"/>
              </a:defRPr>
            </a:pPr>
            <a:r>
              <a:t>촉촉한 제형 클로즈업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고객 세그먼트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관심사를 광고 메시지와 프로모션으로 나눴습니다.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265176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56231"/>
            <a:ext cx="2468879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고객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822191" y="1737360"/>
            <a:ext cx="278892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13631" y="1856231"/>
            <a:ext cx="2606039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737360"/>
            <a:ext cx="306324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856231"/>
            <a:ext cx="28803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487168"/>
            <a:ext cx="2651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688336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민감성 피부 관심 고객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22191" y="2487168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2688336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성분 안정성과 자극 완화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2487168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2688336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진정 라인 체험 키트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364992"/>
            <a:ext cx="265176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566160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22191" y="3364992"/>
            <a:ext cx="278892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8496" y="3566160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364992"/>
            <a:ext cx="306324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566160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242816"/>
            <a:ext cx="2651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443984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사용감 비교 고객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22191" y="4242816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8496" y="4443984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세안 후 편안함과 부드러운 제형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9168" y="4242816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472" y="4443984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사용감 숏폼 리뷰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5303520"/>
            <a:ext cx="3337560" cy="566928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477256"/>
            <a:ext cx="91440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147E74"/>
                </a:solidFill>
                <a:latin typeface="Malgun Gothic"/>
              </a:defRPr>
            </a:pPr>
            <a:r>
              <a:t>소재 방향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7088" y="5422392"/>
            <a:ext cx="1828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1">
                <a:solidFill>
                  <a:srgbClr val="101010"/>
                </a:solidFill>
                <a:latin typeface="Malgun Gothic"/>
              </a:defRPr>
            </a:pPr>
            <a:r>
              <a:t>밝은 욕실 선반 / 어성초나 초록 식물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0832" y="5303520"/>
            <a:ext cx="3063240" cy="5669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5477256"/>
            <a:ext cx="8229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76672" y="5404104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8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99248" y="5303520"/>
            <a:ext cx="2926080" cy="56692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2127" y="5477256"/>
            <a:ext cx="8229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2A5BD7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5404104"/>
            <a:ext cx="1481328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9" b="1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HYCL 항목별 감성 근거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항목별 긍정/부정 반응을 나눠 광고 메시지의 우선순위를 정했습니다.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810512"/>
            <a:ext cx="242316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29384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810512"/>
            <a:ext cx="86868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192938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810512"/>
            <a:ext cx="86868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92938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부정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10512"/>
            <a:ext cx="150876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929384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활용방향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487168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596896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재구매/만족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48716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596896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95%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48716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5192" y="2596896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487168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596896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999232"/>
            <a:ext cx="24231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108960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트러블/자극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999232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3108960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50%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2999232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3108960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42%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999232"/>
            <a:ext cx="15087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108960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</a:defRPr>
            </a:pPr>
            <a:r>
              <a:t>보완 메시지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511296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3621024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보습/촉촉함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3511296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0752" y="362102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64%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3511296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65192" y="362102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9%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511296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3621024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4023360"/>
            <a:ext cx="24231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4133088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사용감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4023360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30752" y="4133088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75%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040" y="4023360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65192" y="4133088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023360"/>
            <a:ext cx="15087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4133088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4535424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4645152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진정/장벽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453542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30752" y="4645152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86%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92040" y="453542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65192" y="4645152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4535424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9632" y="4645152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73568" y="1828800"/>
            <a:ext cx="2788920" cy="2148840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11312" y="2084831"/>
            <a:ext cx="10058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FF6B35"/>
                </a:solidFill>
                <a:latin typeface="Malgun Gothic"/>
              </a:defRPr>
            </a:pPr>
            <a:r>
              <a:t>항목별 해석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1312" y="2542032"/>
            <a:ext cx="2057400" cy="78638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101010"/>
                </a:solidFill>
                <a:latin typeface="Malgun Gothic"/>
              </a:defRPr>
            </a:pPr>
            <a:r>
              <a:t>메인 소구는 재구매/만족(95%+/0%-) / 보습/촉촉함(64%+/9%-), 보완 항목은 트러블/자극(50%+/42%-), 서브 메시지 검토 항목은 트러블/자극(50%+/42%-)입니다.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73568" y="4343400"/>
            <a:ext cx="2788920" cy="1051560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1312" y="4590288"/>
            <a:ext cx="914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47E74"/>
                </a:solidFill>
                <a:latin typeface="Malgun Gothic"/>
              </a:defRPr>
            </a:pPr>
            <a:r>
              <a:t>광고 적용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4956048"/>
            <a:ext cx="2057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메인 소구는 전면 카피로, 보완 항목은 FAQ/혜택/상세페이지 문구로 분리합니다.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5916168"/>
            <a:ext cx="8686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3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64208" y="5852160"/>
            <a:ext cx="8961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HYCL는 긍정 비율이 높은 항목을 메인 소구로 쓰고, 부정 또는 호불호 항목은 보완 메시지로 분리하는 제안이 적합합니다.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리뷰 기반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근거, 소구점, 광고 카피, 이미지 방향을 한 장에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148840" cy="310896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09928"/>
            <a:ext cx="2002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645920"/>
            <a:ext cx="1783080" cy="310896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09928"/>
            <a:ext cx="163677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645920"/>
            <a:ext cx="1115568" cy="310896"/>
          </a:xfrm>
          <a:prstGeom prst="rect">
            <a:avLst/>
          </a:prstGeom>
          <a:solidFill>
            <a:srgbClr val="2A5BD7"/>
          </a:solidFill>
          <a:ln>
            <a:solidFill>
              <a:srgbClr val="2A5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709928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algun Gothic"/>
              </a:defRPr>
            </a:pPr>
            <a:r>
              <a:t>근거 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32588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167127"/>
            <a:ext cx="110642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01010"/>
                </a:solidFill>
                <a:latin typeface="Malgun Gothic"/>
              </a:defRPr>
            </a:pPr>
            <a:r>
              <a:t>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23160"/>
            <a:ext cx="110642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리뷰 문장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9696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47E74"/>
                </a:solidFill>
                <a:latin typeface="Malgun Gothic"/>
              </a:defRPr>
            </a:pPr>
            <a: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9424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4992" y="2084831"/>
            <a:ext cx="1078992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167127"/>
            <a:ext cx="859536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FF6B35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23160"/>
            <a:ext cx="859536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084831"/>
            <a:ext cx="1188720" cy="585216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167127"/>
            <a:ext cx="969264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2A5BD7"/>
                </a:solidFill>
                <a:latin typeface="Malgun Gothic"/>
              </a:defRPr>
            </a:pPr>
            <a:r>
              <a:t>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16" y="2423160"/>
            <a:ext cx="969264" cy="1371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07792"/>
            <a:ext cx="14173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01010"/>
                </a:solidFill>
                <a:latin typeface="Malgun Gothic"/>
              </a:defRPr>
            </a:pPr>
            <a:r>
              <a:t>리뷰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218688"/>
            <a:ext cx="507492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피부가 워낙 여드*성 피부고 툭하면 이것저것 많이 나고 자주 뒤집어지는데 헤이네이처 어성초 스킨 쓰면 확실히 진정되는 느낌이 있어요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피부가 나아질 기*가 안보였어요ㅠㅠ 첫날 피부 보시면 다들 아시겠지만 너무 심해서 거울보기도 싫을..</a:t>
            </a:r>
          </a:p>
          <a:p>
            <a:pPr>
              <a:spcAft>
                <a:spcPts val="500"/>
              </a:spcAft>
              <a:defRPr sz="1080">
                <a:solidFill>
                  <a:srgbClr val="101010"/>
                </a:solidFill>
                <a:latin typeface="Malgun Gothic"/>
              </a:defRPr>
            </a:pPr>
            <a:r>
              <a:t>NEW 엑설런트 파리지앵 독특한 식물성 머스크 향인 앰브랫의 씨앗은 독특한 원료로 이 향수에서 우거진 나무를 연상하게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52628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50" b="1">
                <a:solidFill>
                  <a:srgbClr val="101010"/>
                </a:solidFill>
                <a:latin typeface="Malgun Gothic"/>
              </a:defRPr>
            </a:pPr>
            <a:r>
              <a:t>핵심 소구점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촉촉한 보습감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44952" y="4846320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01183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민감 피부 진정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재구매 만족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2" y="5193792"/>
            <a:ext cx="1965960" cy="256032"/>
          </a:xfrm>
          <a:prstGeom prst="rect">
            <a:avLst/>
          </a:prstGeom>
          <a:solidFill>
            <a:srgbClr val="EBF7F5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48655"/>
            <a:ext cx="1874519" cy="1097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800" b="1">
                <a:solidFill>
                  <a:srgbClr val="147E74"/>
                </a:solidFill>
                <a:latin typeface="Malgun Gothic"/>
              </a:defRPr>
            </a:pPr>
            <a:r>
              <a:t>가격과 혜택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2048256"/>
            <a:ext cx="4572000" cy="157276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2286000"/>
            <a:ext cx="10972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FF6B35"/>
                </a:solidFill>
                <a:latin typeface="Malgun Gothic"/>
              </a:defRPr>
            </a:pPr>
            <a:r>
              <a:t>광고 카피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670048"/>
            <a:ext cx="3767328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01010"/>
                </a:solidFill>
                <a:latin typeface="Malgun Gothic"/>
              </a:defRPr>
            </a:pPr>
            <a:r>
              <a:t>헤이네이처, 민감한 피부가 먼저 알아보는 진정 케어</a:t>
            </a:r>
          </a:p>
          <a:p>
            <a:pPr>
              <a:spcAft>
                <a:spcPts val="500"/>
              </a:spcAft>
              <a:defRPr sz="1400">
                <a:solidFill>
                  <a:srgbClr val="101010"/>
                </a:solidFill>
                <a:latin typeface="Malgun Gothic"/>
              </a:defRPr>
            </a:pPr>
            <a:r>
              <a:t>자극 걱정은 줄이고 촉촉한 편안함은 오래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4005072"/>
            <a:ext cx="4572000" cy="1499616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4242816"/>
            <a:ext cx="123444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50" b="1">
                <a:solidFill>
                  <a:srgbClr val="147E74"/>
                </a:solidFill>
                <a:latin typeface="Malgun Gothic"/>
              </a:defRPr>
            </a:pPr>
            <a:r>
              <a:t>이미지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608576"/>
            <a:ext cx="3767328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01010"/>
                </a:solidFill>
                <a:latin typeface="Malgun Gothic"/>
              </a:defRPr>
            </a:pPr>
            <a:r>
              <a:t>밝은 욕실 선반</a:t>
            </a:r>
          </a:p>
          <a:p>
            <a:pPr>
              <a:spcAft>
                <a:spcPts val="500"/>
              </a:spcAft>
              <a:defRPr sz="1300">
                <a:solidFill>
                  <a:srgbClr val="101010"/>
                </a:solidFill>
                <a:latin typeface="Malgun Gothic"/>
              </a:defRPr>
            </a:pPr>
            <a:r>
              <a:t>어성초나 초록 식물 포인트</a:t>
            </a:r>
          </a:p>
          <a:p>
            <a:pPr>
              <a:spcAft>
                <a:spcPts val="500"/>
              </a:spcAft>
              <a:defRPr sz="1300">
                <a:solidFill>
                  <a:srgbClr val="101010"/>
                </a:solidFill>
                <a:latin typeface="Malgun Gothic"/>
              </a:defRPr>
            </a:pPr>
            <a:r>
              <a:t>촉촉한 제형 클로즈업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5669280"/>
            <a:ext cx="5074920" cy="38404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779008"/>
            <a:ext cx="868680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8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73936" y="5733288"/>
            <a:ext cx="36576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5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고객 세그먼트 제안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리뷰에서 확인한 관심사를 광고 메시지와 프로모션으로 나눴습니다.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265176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56231"/>
            <a:ext cx="2468879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고객 세그먼트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3822191" y="1737360"/>
            <a:ext cx="278892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13631" y="1856231"/>
            <a:ext cx="2606039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광고 메시지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59168" y="1737360"/>
            <a:ext cx="3063240" cy="438912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7" y="1856231"/>
            <a:ext cx="28803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Malgun Gothic"/>
              </a:defRPr>
            </a:pPr>
            <a:r>
              <a:t>프로모션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487168"/>
            <a:ext cx="2651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688336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민감성 피부 관심 고객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22191" y="2487168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2688336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성분 안정성과 자극 완화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2487168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2688336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진정 라인 체험 키트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364992"/>
            <a:ext cx="265176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566160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재구매 가능 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22191" y="3364992"/>
            <a:ext cx="278892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8496" y="3566160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만족 리뷰와 반복 구매 이유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3364992"/>
            <a:ext cx="3063240" cy="65836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3566160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세트 할인 또는 리마인드 쿠폰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242816"/>
            <a:ext cx="2651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443984"/>
            <a:ext cx="235915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혜택 반응 고객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22191" y="4242816"/>
            <a:ext cx="2788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8496" y="4443984"/>
            <a:ext cx="249631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가격 부담을 낮추는 구성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59168" y="4242816"/>
            <a:ext cx="30632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472" y="4443984"/>
            <a:ext cx="2770632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0">
                <a:solidFill>
                  <a:srgbClr val="101010"/>
                </a:solidFill>
                <a:latin typeface="Malgun Gothic"/>
              </a:defRPr>
            </a:pPr>
            <a:r>
              <a:t>첫 구매 쿠폰과 무료배송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5303520"/>
            <a:ext cx="3337560" cy="566928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477256"/>
            <a:ext cx="91440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147E74"/>
                </a:solidFill>
                <a:latin typeface="Malgun Gothic"/>
              </a:defRPr>
            </a:pPr>
            <a:r>
              <a:t>소재 방향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7088" y="5422392"/>
            <a:ext cx="1828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1">
                <a:solidFill>
                  <a:srgbClr val="101010"/>
                </a:solidFill>
                <a:latin typeface="Malgun Gothic"/>
              </a:defRPr>
            </a:pPr>
            <a:r>
              <a:t>밝은 욕실 선반 / 어성초나 초록 식물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0832" y="5303520"/>
            <a:ext cx="3063240" cy="5669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5477256"/>
            <a:ext cx="8229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FF6B35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76672" y="5404104"/>
            <a:ext cx="1600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80" b="1">
                <a:solidFill>
                  <a:srgbClr val="101010"/>
                </a:solidFill>
                <a:latin typeface="Malgun Gothic"/>
              </a:defRPr>
            </a:pPr>
            <a:r>
              <a:t>가격·혜택 설득 필요 / 단점/주의 문구 보완 필요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99248" y="5303520"/>
            <a:ext cx="2926080" cy="566928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82127" y="5477256"/>
            <a:ext cx="82296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0" b="1">
                <a:solidFill>
                  <a:srgbClr val="2A5BD7"/>
                </a:solidFill>
                <a:latin typeface="Malgun Gothic"/>
              </a:defRPr>
            </a:pPr>
            <a:r>
              <a:t>추천상품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5404104"/>
            <a:ext cx="1481328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69" b="1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헤이네이처 항목별 감성 근거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항목별 긍정/부정 반응을 나눠 광고 메시지의 우선순위를 정했습니다.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810512"/>
            <a:ext cx="242316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29384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810512"/>
            <a:ext cx="86868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192938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긍정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810512"/>
            <a:ext cx="86868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5192" y="192938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부정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10512"/>
            <a:ext cx="1508760" cy="411480"/>
          </a:xfrm>
          <a:prstGeom prst="rect">
            <a:avLst/>
          </a:prstGeom>
          <a:solidFill>
            <a:srgbClr val="101010"/>
          </a:solidFill>
          <a:ln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929384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Malgun Gothic"/>
              </a:defRPr>
            </a:pPr>
            <a:r>
              <a:t>활용방향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487168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596896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진정/장벽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48716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596896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487168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5192" y="2596896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487168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596896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2999232"/>
            <a:ext cx="24231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108960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가격/혜택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999232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3108960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58%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2999232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3108960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999232"/>
            <a:ext cx="15087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108960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511296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3621024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보습/촉촉함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3511296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0752" y="362102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100%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3511296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65192" y="3621024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511296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3621024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4023360"/>
            <a:ext cx="24231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4133088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재구매/만족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4023360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30752" y="4133088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67%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2040" y="4023360"/>
            <a:ext cx="86868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65192" y="4133088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023360"/>
            <a:ext cx="1508760" cy="384048"/>
          </a:xfrm>
          <a:prstGeom prst="rect">
            <a:avLst/>
          </a:prstGeom>
          <a:solidFill>
            <a:srgbClr val="F4F4F4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4133088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메인 소구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" y="4535424"/>
            <a:ext cx="24231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4645152"/>
            <a:ext cx="22768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01010"/>
                </a:solidFill>
                <a:latin typeface="Malgun Gothic"/>
              </a:defRPr>
            </a:pPr>
            <a:r>
              <a:t>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453542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30752" y="4645152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92040" y="4535424"/>
            <a:ext cx="868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65192" y="4645152"/>
            <a:ext cx="722375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0">
                <a:solidFill>
                  <a:srgbClr val="101010"/>
                </a:solidFill>
                <a:latin typeface="Malgun Gothic"/>
              </a:defRPr>
            </a:pPr>
            <a:r>
              <a:t>50%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4535424"/>
            <a:ext cx="1508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9632" y="4645152"/>
            <a:ext cx="1362456" cy="11887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</a:defRPr>
            </a:pPr>
            <a:r>
              <a:t>보완 메시지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73568" y="1828800"/>
            <a:ext cx="2788920" cy="2148840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11312" y="2084831"/>
            <a:ext cx="10058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FF6B35"/>
                </a:solidFill>
                <a:latin typeface="Malgun Gothic"/>
              </a:defRPr>
            </a:pPr>
            <a:r>
              <a:t>항목별 해석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1312" y="2542032"/>
            <a:ext cx="2057400" cy="78638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00" b="1">
                <a:solidFill>
                  <a:srgbClr val="101010"/>
                </a:solidFill>
                <a:latin typeface="Malgun Gothic"/>
              </a:defRPr>
            </a:pPr>
            <a:r>
              <a:t>메인 소구는 진정/장벽(100%+/0%-) / 가격/혜택(58%+/0%-), 보완 항목은 향(0%+/50%-), 서브 메시지 검토 항목은 호불호 항목 낮음입니다.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73568" y="4343400"/>
            <a:ext cx="2788920" cy="1051560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1312" y="4590288"/>
            <a:ext cx="914400" cy="14630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47E74"/>
                </a:solidFill>
                <a:latin typeface="Malgun Gothic"/>
              </a:defRPr>
            </a:pPr>
            <a:r>
              <a:t>광고 적용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4956048"/>
            <a:ext cx="205740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19" b="1">
                <a:solidFill>
                  <a:srgbClr val="101010"/>
                </a:solidFill>
                <a:latin typeface="Malgun Gothic"/>
              </a:defRPr>
            </a:pPr>
            <a:r>
              <a:t>메인 소구는 전면 카피로, 보완 항목은 FAQ/혜택/상세페이지 문구로 분리합니다.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" y="5916168"/>
            <a:ext cx="868680" cy="12801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30" b="1">
                <a:solidFill>
                  <a:srgbClr val="FF6B35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64208" y="5852160"/>
            <a:ext cx="89611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01010"/>
                </a:solidFill>
                <a:latin typeface="Malgun Gothic"/>
              </a:defRPr>
            </a:pPr>
            <a:r>
              <a:t>헤이네이처는 긍정 비율이 높은 항목을 메인 소구로 쓰고, 부정 또는 호불호 항목은 보완 메시지로 분리하는 제안이 적합합니다.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84048"/>
            <a:ext cx="10607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01010"/>
                </a:solidFill>
                <a:latin typeface="Malgun Gothic"/>
              </a:defRPr>
            </a:pPr>
            <a:r>
              <a:t>리뷰가 말하는 소구점이 광고 방향을 결정합니다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784" y="1124712"/>
            <a:ext cx="10744200" cy="13716"/>
          </a:xfrm>
          <a:prstGeom prst="rect">
            <a:avLst/>
          </a:prstGeom>
          <a:solidFill>
            <a:srgbClr val="D6DAE0"/>
          </a:solidFill>
          <a:ln>
            <a:solidFill>
              <a:srgbClr val="D6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234440"/>
            <a:ext cx="102412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 문장, 소구점, 추천상품을 같이 보면 브랜드별 제안이 더 선명해집니다.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755648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38528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1.618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38528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산뜻한 사용감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938528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834639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017520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HYCL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17520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민감 피부 진정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5312" y="3017520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913631"/>
            <a:ext cx="10424160" cy="786384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096511"/>
            <a:ext cx="150876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101010"/>
                </a:solidFill>
                <a:latin typeface="Malgun Gothic"/>
              </a:defRPr>
            </a:pPr>
            <a:r>
              <a:t>헤이네이처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96511"/>
            <a:ext cx="28346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1">
                <a:solidFill>
                  <a:srgbClr val="147E74"/>
                </a:solidFill>
                <a:latin typeface="Malgun Gothic"/>
              </a:defRPr>
            </a:pPr>
            <a:r>
              <a:t>촉촉한 보습감 / 민감 피부 진정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4096511"/>
            <a:ext cx="429768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20" b="0">
                <a:solidFill>
                  <a:srgbClr val="101010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5285232"/>
            <a:ext cx="10424160" cy="566928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468112"/>
            <a:ext cx="10058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50" b="1">
                <a:solidFill>
                  <a:srgbClr val="FF6B35"/>
                </a:solidFill>
                <a:latin typeface="Malgun Gothic"/>
              </a:defRPr>
            </a:pPr>
            <a:r>
              <a:t>다음 작업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5394960"/>
            <a:ext cx="7955279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400" b="1">
                <a:solidFill>
                  <a:srgbClr val="101010"/>
                </a:solidFill>
                <a:latin typeface="Malgun Gothic"/>
              </a:defRPr>
            </a:pPr>
            <a:r>
              <a:t>브랜드별 리뷰 근거를 유지한 채 이미지 카드와 제안메일 본문까지 같은 구조로 확장합니다.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" y="6473952"/>
            <a:ext cx="2743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브랜드 리뷰 제안서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45720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