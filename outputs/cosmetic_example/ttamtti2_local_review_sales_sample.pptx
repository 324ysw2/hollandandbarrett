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7132320" cy="150876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3400" b="1">
                <a:solidFill>
                  <a:srgbClr val="0E0E0E"/>
                </a:solidFill>
                <a:latin typeface="Malgun Gothic"/>
              </a:defRPr>
            </a:pPr>
            <a:r>
              <a:t>화장품 브랜드 리뷰 기반</a:t>
            </a:r>
            <a:br/>
            <a:r>
              <a:t>영업 제안 샘플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487168"/>
            <a:ext cx="61264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600" b="0">
                <a:solidFill>
                  <a:srgbClr val="565656"/>
                </a:solidFill>
                <a:latin typeface="Malgun Gothic"/>
              </a:defRPr>
            </a:pPr>
            <a:r>
              <a:t>295개 JSON을 API 없이 정제하고, 브랜드별 그룹과 추천 영업상품을 자동 산출한 예시입니다.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06640" y="658368"/>
            <a:ext cx="4160520" cy="5349240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960120"/>
            <a:ext cx="32918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800" b="1">
                <a:solidFill>
                  <a:srgbClr val="0E0E0E"/>
                </a:solidFill>
                <a:latin typeface="Malgun Gothic"/>
              </a:defRPr>
            </a:pPr>
            <a:r>
              <a:t>분석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600200"/>
            <a:ext cx="329184" cy="329184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572768"/>
            <a:ext cx="2926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400" b="0">
                <a:solidFill>
                  <a:srgbClr val="0E0E0E"/>
                </a:solidFill>
                <a:latin typeface="Malgun Gothic"/>
              </a:defRPr>
            </a:pPr>
            <a:r>
              <a:t>1. 노이즈 제거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2313432"/>
            <a:ext cx="329184" cy="329184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286000"/>
            <a:ext cx="2926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400" b="0">
                <a:solidFill>
                  <a:srgbClr val="0E0E0E"/>
                </a:solidFill>
                <a:latin typeface="Malgun Gothic"/>
              </a:defRPr>
            </a:pPr>
            <a:r>
              <a:t>2. 리뷰/FAQ 문장 분리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3026664"/>
            <a:ext cx="329184" cy="329184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999232"/>
            <a:ext cx="2926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400" b="0">
                <a:solidFill>
                  <a:srgbClr val="0E0E0E"/>
                </a:solidFill>
                <a:latin typeface="Malgun Gothic"/>
              </a:defRPr>
            </a:pPr>
            <a:r>
              <a:t>3. 감성·기능 라벨링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3739896"/>
            <a:ext cx="329184" cy="329184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3712463"/>
            <a:ext cx="2926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400" b="0">
                <a:solidFill>
                  <a:srgbClr val="0E0E0E"/>
                </a:solidFill>
                <a:latin typeface="Malgun Gothic"/>
              </a:defRPr>
            </a:pPr>
            <a:r>
              <a:t>4. 그룹/추천상품 매칭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4453128"/>
            <a:ext cx="329184" cy="329184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425696"/>
            <a:ext cx="2926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400" b="1">
                <a:solidFill>
                  <a:srgbClr val="0E0E0E"/>
                </a:solidFill>
                <a:latin typeface="Malgun Gothic"/>
              </a:defRPr>
            </a:pPr>
            <a:r>
              <a:t>5. PPT·이미지 제안서 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73952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Local review analysis | no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5613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800" b="1">
                <a:solidFill>
                  <a:srgbClr val="0E0E0E"/>
                </a:solidFill>
                <a:latin typeface="Malgun Gothic"/>
              </a:defRPr>
            </a:pPr>
            <a:r>
              <a:t>분석은 충분한 브랜드와 약한 브랜드를 먼저 갈라낸다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61288"/>
            <a:ext cx="10835640" cy="9144"/>
          </a:xfrm>
          <a:prstGeom prst="rect">
            <a:avLst/>
          </a:prstGeom>
          <a:solidFill>
            <a:srgbClr val="BCC0C6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2412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근거등급은 제안 자동화에서 발송 우선순위를 정하는 기준이 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783080"/>
            <a:ext cx="2057400" cy="960120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1920240"/>
            <a:ext cx="172821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400" b="1">
                <a:solidFill>
                  <a:srgbClr val="0E0E0E"/>
                </a:solidFill>
                <a:latin typeface="Malgun Gothic"/>
              </a:defRPr>
            </a:pPr>
            <a:r>
              <a:t>295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350008"/>
            <a:ext cx="172821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분석 브랜드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83080"/>
            <a:ext cx="2057400" cy="960120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1920240"/>
            <a:ext cx="172821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400" b="1">
                <a:solidFill>
                  <a:srgbClr val="147E74"/>
                </a:solidFill>
                <a:latin typeface="Malgun Gothic"/>
              </a:defRPr>
            </a:pPr>
            <a:r>
              <a:t>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2350008"/>
            <a:ext cx="172821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A등급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7488" y="1783080"/>
            <a:ext cx="2057400" cy="960120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1920240"/>
            <a:ext cx="172821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400" b="1">
                <a:solidFill>
                  <a:srgbClr val="FF6B35"/>
                </a:solidFill>
                <a:latin typeface="Malgun Gothic"/>
              </a:defRPr>
            </a:pPr>
            <a:r>
              <a:t>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2350008"/>
            <a:ext cx="172821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검토필요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6056" y="1783080"/>
            <a:ext cx="2057400" cy="960120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0648" y="1920240"/>
            <a:ext cx="172821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400" b="1">
                <a:solidFill>
                  <a:srgbClr val="2A5BD7"/>
                </a:solidFill>
                <a:latin typeface="Malgun Gothic"/>
              </a:defRPr>
            </a:pPr>
            <a: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2350008"/>
            <a:ext cx="172821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대표문장 부족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154680"/>
            <a:ext cx="29260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800" b="1">
                <a:solidFill>
                  <a:srgbClr val="0E0E0E"/>
                </a:solidFill>
                <a:latin typeface="Malgun Gothic"/>
              </a:defRPr>
            </a:pPr>
            <a:r>
              <a:t>대표 그룹 분포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648456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3648456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9272" y="3675887"/>
            <a:ext cx="5852160" cy="118872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9272" y="3675887"/>
            <a:ext cx="5852160" cy="118872"/>
          </a:xfrm>
          <a:prstGeom prst="rect">
            <a:avLst/>
          </a:prstGeom>
          <a:solidFill>
            <a:srgbClr val="147E74"/>
          </a:solidFill>
          <a:ln>
            <a:solidFill>
              <a:srgbClr val="14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941063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검토필요/상품군 불명확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6624" y="3941063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74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9272" y="3968496"/>
            <a:ext cx="5852160" cy="118872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9272" y="3968496"/>
            <a:ext cx="4921134" cy="118872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233671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클렌징/바디/헤어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6624" y="4233671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37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9272" y="4261103"/>
            <a:ext cx="5852160" cy="118872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9272" y="4261103"/>
            <a:ext cx="2460567" cy="118872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526279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트러블/피지/모공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06624" y="4526279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28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9272" y="4553712"/>
            <a:ext cx="5852160" cy="118872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9272" y="4553712"/>
            <a:ext cx="1862050" cy="118872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4818888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여성청결/특수케어/의약외품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06624" y="4818888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26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9272" y="4846320"/>
            <a:ext cx="5852160" cy="118872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19272" y="4846320"/>
            <a:ext cx="1729047" cy="118872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5111495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6624" y="5111495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14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9272" y="5138927"/>
            <a:ext cx="5852160" cy="118872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19272" y="5138927"/>
            <a:ext cx="931025" cy="118872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5404103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선케어/아웃도어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06624" y="5404103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9272" y="5431536"/>
            <a:ext cx="5852160" cy="118872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19272" y="5431536"/>
            <a:ext cx="798021" cy="118872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696712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베이비/패밀리/임산부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06624" y="5696712"/>
            <a:ext cx="5029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19272" y="5724144"/>
            <a:ext cx="5852160" cy="118872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19272" y="5724144"/>
            <a:ext cx="532014" cy="118872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16368" y="3154680"/>
            <a:ext cx="20116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800" b="1">
                <a:solidFill>
                  <a:srgbClr val="0E0E0E"/>
                </a:solidFill>
                <a:latin typeface="Malgun Gothic"/>
              </a:defRPr>
            </a:pPr>
            <a:r>
              <a:t>의미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16368" y="3639312"/>
            <a:ext cx="388620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E0E0E"/>
                </a:solidFill>
                <a:latin typeface="Malgun Gothic"/>
              </a:defRPr>
            </a:pPr>
            <a:r>
              <a:t>A/B등급은 바로 제안서 초안 생성 대상입니다.</a:t>
            </a:r>
          </a:p>
          <a:p>
            <a:pPr>
              <a:spcAft>
                <a:spcPts val="800"/>
              </a:spcAft>
              <a:defRPr sz="1400">
                <a:solidFill>
                  <a:srgbClr val="0E0E0E"/>
                </a:solidFill>
                <a:latin typeface="Malgun Gothic"/>
              </a:defRPr>
            </a:pPr>
            <a:r>
              <a:t>불명확 브랜드는 URL과 대표상품 확인 후 재분류합니다.</a:t>
            </a:r>
          </a:p>
          <a:p>
            <a:pPr>
              <a:spcAft>
                <a:spcPts val="800"/>
              </a:spcAft>
              <a:defRPr sz="1400">
                <a:solidFill>
                  <a:srgbClr val="0E0E0E"/>
                </a:solidFill>
                <a:latin typeface="Malgun Gothic"/>
              </a:defRPr>
            </a:pPr>
            <a:r>
              <a:t>그룹별 추천상품을 고정하면 대량 제안 메일로 확장하기 쉽습니다.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0352" y="6473952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Local review analysis | no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5613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800" b="1">
                <a:solidFill>
                  <a:srgbClr val="0E0E0E"/>
                </a:solidFill>
                <a:latin typeface="Malgun Gothic"/>
              </a:defRPr>
            </a:pPr>
            <a:r>
              <a:t>추천 영업상품은 상세페이지와 검색광고에 가장 많이 몰린다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61288"/>
            <a:ext cx="10835640" cy="9144"/>
          </a:xfrm>
          <a:prstGeom prst="rect">
            <a:avLst/>
          </a:prstGeom>
          <a:solidFill>
            <a:srgbClr val="BCC0C6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2412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리뷰·FAQ에서 나온 구매장벽을 바로 제안상품으로 연결했습니다.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10511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300" b="1">
                <a:solidFill>
                  <a:srgbClr val="0E0E0E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874519"/>
            <a:ext cx="5806440" cy="201168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60520" y="1874519"/>
            <a:ext cx="5806440" cy="201168"/>
          </a:xfrm>
          <a:prstGeom prst="rect">
            <a:avLst/>
          </a:prstGeom>
          <a:solidFill>
            <a:srgbClr val="FF6B35"/>
          </a:solidFill>
          <a:ln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0" y="1801367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300" b="0">
                <a:solidFill>
                  <a:srgbClr val="565656"/>
                </a:solidFill>
                <a:latin typeface="Malgun Gothic"/>
              </a:defRPr>
            </a:pPr>
            <a:r>
              <a:t>274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40864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300" b="1">
                <a:solidFill>
                  <a:srgbClr val="0E0E0E"/>
                </a:solidFill>
                <a:latin typeface="Malgun Gothic"/>
              </a:defRPr>
            </a:pPr>
            <a:r>
              <a:t>네이버 검색광고/쇼핑 키워드 패키지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404872"/>
            <a:ext cx="5806440" cy="201168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2404872"/>
            <a:ext cx="4683296" cy="201168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0" y="2331720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300" b="0">
                <a:solidFill>
                  <a:srgbClr val="565656"/>
                </a:solidFill>
                <a:latin typeface="Malgun Gothic"/>
              </a:defRPr>
            </a:pPr>
            <a:r>
              <a:t>221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71216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300" b="0">
                <a:solidFill>
                  <a:srgbClr val="0E0E0E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2935224"/>
            <a:ext cx="5806440" cy="201168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2935224"/>
            <a:ext cx="3856832" cy="201168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2862072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300" b="0">
                <a:solidFill>
                  <a:srgbClr val="565656"/>
                </a:solidFill>
                <a:latin typeface="Malgun Gothic"/>
              </a:defRPr>
            </a:pPr>
            <a:r>
              <a:t>182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01568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300" b="0">
                <a:solidFill>
                  <a:srgbClr val="0E0E0E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465575"/>
            <a:ext cx="5806440" cy="201168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3465575"/>
            <a:ext cx="1165526" cy="201168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3392423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300" b="0">
                <a:solidFill>
                  <a:srgbClr val="565656"/>
                </a:solidFill>
                <a:latin typeface="Malgun Gothic"/>
              </a:defRPr>
            </a:pPr>
            <a:r>
              <a:t>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31919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300" b="0">
                <a:solidFill>
                  <a:srgbClr val="0E0E0E"/>
                </a:solidFill>
                <a:latin typeface="Malgun Gothic"/>
              </a:defRPr>
            </a:pPr>
            <a:r>
              <a:t>화장품 표현 리스크 검수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995927"/>
            <a:ext cx="5806440" cy="201168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995927"/>
            <a:ext cx="847655" cy="201168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3922775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300" b="0">
                <a:solidFill>
                  <a:srgbClr val="565656"/>
                </a:solidFill>
                <a:latin typeface="Malgun Gothic"/>
              </a:defRPr>
            </a:pPr>
            <a:r>
              <a:t>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62271"/>
            <a:ext cx="3246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300" b="0">
                <a:solidFill>
                  <a:srgbClr val="0E0E0E"/>
                </a:solidFill>
                <a:latin typeface="Malgun Gothic"/>
              </a:defRPr>
            </a:pPr>
            <a:r>
              <a:t>혜택/재구매 CRM 소재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4526279"/>
            <a:ext cx="5806440" cy="201168"/>
          </a:xfrm>
          <a:prstGeom prst="rect">
            <a:avLst/>
          </a:prstGeom>
          <a:solidFill>
            <a:srgbClr val="E8E8E8"/>
          </a:solidFill>
          <a:ln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0520" y="4526279"/>
            <a:ext cx="508593" cy="201168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4453127"/>
            <a:ext cx="6400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1300" b="0">
                <a:solidFill>
                  <a:srgbClr val="565656"/>
                </a:solidFill>
                <a:latin typeface="Malgun Gothic"/>
              </a:defRPr>
            </a:pPr>
            <a:r>
              <a:t>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" y="5468112"/>
            <a:ext cx="10835640" cy="658368"/>
          </a:xfrm>
          <a:prstGeom prst="rect">
            <a:avLst/>
          </a:prstGeom>
          <a:solidFill>
            <a:srgbClr val="FAF2EE"/>
          </a:solidFill>
          <a:ln>
            <a:solidFill>
              <a:srgbClr val="FAF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605272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200" b="1">
                <a:solidFill>
                  <a:srgbClr val="FF6B35"/>
                </a:solidFill>
                <a:latin typeface="Malgun Gothic"/>
              </a:defRPr>
            </a:pPr>
            <a:r>
              <a:t>영업 메시지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12848" y="5559552"/>
            <a:ext cx="877824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600" b="1">
                <a:solidFill>
                  <a:srgbClr val="0E0E0E"/>
                </a:solidFill>
                <a:latin typeface="Malgun Gothic"/>
              </a:defRPr>
            </a:pPr>
            <a:r>
              <a:t>“리뷰와 FAQ에서 이미 드러난 구매장벽을 상세페이지·검색광고·숏폼 소재로 바꾸겠습니다.”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473952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Local review analysis | no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5613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800" b="1">
                <a:solidFill>
                  <a:srgbClr val="0E0E0E"/>
                </a:solidFill>
                <a:latin typeface="Malgun Gothic"/>
              </a:defRPr>
            </a:pPr>
            <a:r>
              <a:t>그룹별 제안은 상품이 아니라 문제 해결 단위로 묶는다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61288"/>
            <a:ext cx="10835640" cy="9144"/>
          </a:xfrm>
          <a:prstGeom prst="rect">
            <a:avLst/>
          </a:prstGeom>
          <a:solidFill>
            <a:srgbClr val="BCC0C6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2412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같은 화장품이어도 고객이 말하는 불안과 기대가 다르면 제안상품도 달라집니다.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2286000" cy="411480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65376"/>
            <a:ext cx="2066543" cy="20116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그룹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783080"/>
            <a:ext cx="2971800" cy="411480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0128" y="1865376"/>
            <a:ext cx="275234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리뷰에서 잡는 신호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1783080"/>
            <a:ext cx="4297680" cy="411480"/>
          </a:xfrm>
          <a:prstGeom prst="rect">
            <a:avLst/>
          </a:prstGeom>
          <a:solidFill>
            <a:srgbClr val="0E0E0E"/>
          </a:solidFill>
          <a:ln>
            <a:solidFill>
              <a:srgbClr val="0E0E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9128" y="1865376"/>
            <a:ext cx="4078224" cy="20116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추천 제안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59152"/>
            <a:ext cx="2286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50592"/>
            <a:ext cx="2066543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1">
                <a:solidFill>
                  <a:srgbClr val="0E0E0E"/>
                </a:solidFill>
                <a:latin typeface="Malgun Gothic"/>
              </a:defRPr>
            </a:pPr>
            <a:r>
              <a:t>보습/수분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359152"/>
            <a:ext cx="2971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2450592"/>
            <a:ext cx="2752344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건조, 당김, 촉촉, 흡수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359152"/>
            <a:ext cx="4297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450592"/>
            <a:ext cx="4078224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상세페이지 사용감 근거 강화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971800"/>
            <a:ext cx="2286000" cy="457200"/>
          </a:xfrm>
          <a:prstGeom prst="rect">
            <a:avLst/>
          </a:prstGeom>
          <a:solidFill>
            <a:srgbClr val="F7F7F7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063240"/>
            <a:ext cx="2066543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1">
                <a:solidFill>
                  <a:srgbClr val="0E0E0E"/>
                </a:solidFill>
                <a:latin typeface="Malgun Gothic"/>
              </a:defRPr>
            </a:pPr>
            <a:r>
              <a:t>장벽/진정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2971800"/>
            <a:ext cx="2971800" cy="457200"/>
          </a:xfrm>
          <a:prstGeom prst="rect">
            <a:avLst/>
          </a:prstGeom>
          <a:solidFill>
            <a:srgbClr val="F7F7F7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0128" y="3063240"/>
            <a:ext cx="2752344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시카, 판테놀, 자극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2971800"/>
            <a:ext cx="4297680" cy="457200"/>
          </a:xfrm>
          <a:prstGeom prst="rect">
            <a:avLst/>
          </a:prstGeom>
          <a:solidFill>
            <a:srgbClr val="F7F7F7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39128" y="3063240"/>
            <a:ext cx="4078224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성분·효능 표현 리스크 검수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584448"/>
            <a:ext cx="2286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7"/>
            <a:ext cx="2066543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1">
                <a:solidFill>
                  <a:srgbClr val="0E0E0E"/>
                </a:solidFill>
                <a:latin typeface="Malgun Gothic"/>
              </a:defRPr>
            </a:pPr>
            <a:r>
              <a:t>트러블/피지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584448"/>
            <a:ext cx="2971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0128" y="3675887"/>
            <a:ext cx="2752344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여드름, 붉어짐, 모공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3584448"/>
            <a:ext cx="4297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39128" y="3675887"/>
            <a:ext cx="4078224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검색광고 키워드와 전후 후기 소재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197096"/>
            <a:ext cx="2286000" cy="457200"/>
          </a:xfrm>
          <a:prstGeom prst="rect">
            <a:avLst/>
          </a:prstGeom>
          <a:solidFill>
            <a:srgbClr val="F7F7F7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288536"/>
            <a:ext cx="2066543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1">
                <a:solidFill>
                  <a:srgbClr val="0E0E0E"/>
                </a:solidFill>
                <a:latin typeface="Malgun Gothic"/>
              </a:defRPr>
            </a:pPr>
            <a:r>
              <a:t>선케어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4197096"/>
            <a:ext cx="2971800" cy="457200"/>
          </a:xfrm>
          <a:prstGeom prst="rect">
            <a:avLst/>
          </a:prstGeom>
          <a:solidFill>
            <a:srgbClr val="F7F7F7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128" y="4288536"/>
            <a:ext cx="2752344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백탁, 눈시림, 발림성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4197096"/>
            <a:ext cx="4297680" cy="457200"/>
          </a:xfrm>
          <a:prstGeom prst="rect">
            <a:avLst/>
          </a:prstGeom>
          <a:solidFill>
            <a:srgbClr val="F7F7F7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39128" y="4288536"/>
            <a:ext cx="4078224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숏폼 사용감 테스트 콘텐츠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09744"/>
            <a:ext cx="22860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901183"/>
            <a:ext cx="2066543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1">
                <a:solidFill>
                  <a:srgbClr val="0E0E0E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4809744"/>
            <a:ext cx="2971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10128" y="4901183"/>
            <a:ext cx="2752344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쿠폰, 무료배송, 재구매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29400" y="4809744"/>
            <a:ext cx="4297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39128" y="4901183"/>
            <a:ext cx="4078224" cy="21945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0E0E0E"/>
                </a:solidFill>
                <a:latin typeface="Malgun Gothic"/>
              </a:defRPr>
            </a:pPr>
            <a:r>
              <a:t>CRM·혜택 배너·리마케팅 소재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6473952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Local review analysis | no 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56132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800" b="1">
                <a:solidFill>
                  <a:srgbClr val="0E0E0E"/>
                </a:solidFill>
                <a:latin typeface="Malgun Gothic"/>
              </a:defRPr>
            </a:pPr>
            <a:r>
              <a:t>와더스킨 예시: 리뷰 강점은 소재화하고, FAQ는 상세페이지로 흡수한다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1161288"/>
            <a:ext cx="10835640" cy="9144"/>
          </a:xfrm>
          <a:prstGeom prst="rect">
            <a:avLst/>
          </a:prstGeom>
          <a:solidFill>
            <a:srgbClr val="BCC0C6"/>
          </a:solidFill>
          <a:ln>
            <a:solidFill>
              <a:srgbClr val="BCC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234440"/>
            <a:ext cx="1024128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200" b="0">
                <a:solidFill>
                  <a:srgbClr val="565656"/>
                </a:solidFill>
                <a:latin typeface="Malgun Gothic"/>
              </a:defRPr>
            </a:pPr>
            <a:r>
              <a:t>한 브랜드를 선택하면 자동으로 근거와 추천상품 브리프를 만들 수 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19072"/>
            <a:ext cx="2743200" cy="960120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856231"/>
            <a:ext cx="241401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400" b="1">
                <a:solidFill>
                  <a:srgbClr val="147E74"/>
                </a:solidFill>
                <a:latin typeface="Malgun Gothic"/>
              </a:defRPr>
            </a:pPr>
            <a:r>
              <a:t>보습/수분/리페어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86000"/>
            <a:ext cx="241401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대표그룹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1719072"/>
            <a:ext cx="2743200" cy="960120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856231"/>
            <a:ext cx="2414016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400" b="1">
                <a:solidFill>
                  <a:srgbClr val="FF6B35"/>
                </a:solidFill>
                <a:latin typeface="Malgun Gothic"/>
              </a:defRPr>
            </a:pPr>
            <a:r>
              <a:t>가격/혜택형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286000"/>
            <a:ext cx="2414016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세부유형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1719072"/>
            <a:ext cx="1325880" cy="960120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856231"/>
            <a:ext cx="996695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400" b="1">
                <a:solidFill>
                  <a:srgbClr val="0E0E0E"/>
                </a:solidFill>
                <a:latin typeface="Malgun Gothic"/>
              </a:defRPr>
            </a:pPr>
            <a: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286000"/>
            <a:ext cx="996695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근거등급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719072"/>
            <a:ext cx="1325880" cy="960120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856231"/>
            <a:ext cx="996695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2400" b="1">
                <a:solidFill>
                  <a:srgbClr val="2A5BD7"/>
                </a:solidFill>
                <a:latin typeface="Malgun Gothic"/>
              </a:defRPr>
            </a:pPr>
            <a:r>
              <a:t>108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286000"/>
            <a:ext cx="996695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00" b="0">
                <a:solidFill>
                  <a:srgbClr val="565656"/>
                </a:solidFill>
                <a:latin typeface="Malgun Gothic"/>
              </a:defRPr>
            </a:pPr>
            <a:r>
              <a:t>정제문장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063240"/>
            <a:ext cx="15544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800" b="1">
                <a:solidFill>
                  <a:srgbClr val="0E0E0E"/>
                </a:solidFill>
                <a:latin typeface="Malgun Gothic"/>
              </a:defRPr>
            </a:pPr>
            <a:r>
              <a:t>대표 근거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38728"/>
            <a:ext cx="5029200" cy="11704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E0E0E"/>
                </a:solidFill>
                <a:latin typeface="Malgun Gothic"/>
              </a:defRPr>
            </a:pPr>
            <a:r>
              <a:t>.화잘먹템 ㅋㅋㅋ 특히 여름에 쓰기에 보송하니 좋은 것 같아요.팁 부분이 잘 되어 있어서 양조절도 좋고쓸 데 없이 뚜껑에 묻어나지 않아...</a:t>
            </a:r>
          </a:p>
          <a:p>
            <a:pPr>
              <a:spcAft>
                <a:spcPts val="800"/>
              </a:spcAft>
              <a:defRPr sz="1200">
                <a:solidFill>
                  <a:srgbClr val="0E0E0E"/>
                </a:solidFill>
                <a:latin typeface="Malgun Gothic"/>
              </a:defRPr>
            </a:pPr>
            <a:r>
              <a:t>더보기 5.0 김**** 추천 0 작성 25.06.23 조회 4,353 자외선 차단 올데이 멜로우 UV 저자극 선크림 선블록 50ml...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063240"/>
            <a:ext cx="201168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800" b="1">
                <a:solidFill>
                  <a:srgbClr val="0E0E0E"/>
                </a:solidFill>
                <a:latin typeface="Malgun Gothic"/>
              </a:defRPr>
            </a:pPr>
            <a:r>
              <a:t>추천 영업상품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538728"/>
            <a:ext cx="48006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E0E0E"/>
                </a:solidFill>
                <a:latin typeface="Malgun Gothic"/>
              </a:defRPr>
            </a:pPr>
            <a:r>
              <a:t>리뷰/FAQ 기반 상세페이지 개선</a:t>
            </a:r>
          </a:p>
          <a:p>
            <a:pPr>
              <a:spcAft>
                <a:spcPts val="800"/>
              </a:spcAft>
              <a:defRPr sz="1300">
                <a:solidFill>
                  <a:srgbClr val="0E0E0E"/>
                </a:solidFill>
                <a:latin typeface="Malgun Gothic"/>
              </a:defRPr>
            </a:pPr>
            <a:r>
              <a:t>네이버 검색광고/쇼핑 키워드 패키지</a:t>
            </a:r>
          </a:p>
          <a:p>
            <a:pPr>
              <a:spcAft>
                <a:spcPts val="800"/>
              </a:spcAft>
              <a:defRPr sz="1300">
                <a:solidFill>
                  <a:srgbClr val="0E0E0E"/>
                </a:solidFill>
                <a:latin typeface="Malgun Gothic"/>
              </a:defRPr>
            </a:pPr>
            <a:r>
              <a:t>혜택/재구매 CRM 소재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5074920"/>
            <a:ext cx="4800600" cy="658368"/>
          </a:xfrm>
          <a:prstGeom prst="rect">
            <a:avLst/>
          </a:prstGeom>
          <a:solidFill>
            <a:srgbClr val="EDF7F5"/>
          </a:solidFill>
          <a:ln>
            <a:solidFill>
              <a:srgbClr val="EDF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5221224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100" b="1">
                <a:solidFill>
                  <a:srgbClr val="147E74"/>
                </a:solidFill>
                <a:latin typeface="Malgun Gothic"/>
              </a:defRPr>
            </a:pPr>
            <a:r>
              <a:t>제안 문장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5175504"/>
            <a:ext cx="3246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200" b="1">
                <a:solidFill>
                  <a:srgbClr val="0E0E0E"/>
                </a:solidFill>
                <a:latin typeface="Malgun Gothic"/>
              </a:defRPr>
            </a:pPr>
            <a:r>
              <a:t>와더스킨은(는) 보습 수분 리페어 중 가격 혜택형으로 분류됩니다. 핵심 근거는 폼클렌징, 선크림, 퓨어미, 와더스킨이며, 근거등...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473952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Local review analysis | no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658368"/>
            <a:ext cx="9875520" cy="749808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3000" b="1">
                <a:solidFill>
                  <a:srgbClr val="0E0E0E"/>
                </a:solidFill>
                <a:latin typeface="Malgun Gothic"/>
              </a:defRPr>
            </a:pPr>
            <a:r>
              <a:t>다음 단계는 자동 제안서 생성으로 연결하는 것입니다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36192"/>
            <a:ext cx="87782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600" b="0">
                <a:solidFill>
                  <a:srgbClr val="565656"/>
                </a:solidFill>
                <a:latin typeface="Malgun Gothic"/>
              </a:defRPr>
            </a:pPr>
            <a:r>
              <a:t>CSV의 그룹·근거·추천상품을 템플릿에 꽂으면 브랜드별 이미지와 PPT를 대량 생성할 수 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2487168"/>
            <a:ext cx="5074920" cy="941832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651760"/>
            <a:ext cx="3657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6736" y="2633472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500" b="1">
                <a:solidFill>
                  <a:srgbClr val="0E0E0E"/>
                </a:solidFill>
                <a:latin typeface="Malgun Gothic"/>
              </a:defRPr>
            </a:pPr>
            <a:r>
              <a:t>검토필요 74개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980944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50" b="0">
                <a:solidFill>
                  <a:srgbClr val="565656"/>
                </a:solidFill>
                <a:latin typeface="Malgun Gothic"/>
              </a:defRPr>
            </a:pPr>
            <a:r>
              <a:t>도메인과 대표상품을 확인해 오분류를 줄입니다.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7" y="2487168"/>
            <a:ext cx="5074920" cy="941832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651760"/>
            <a:ext cx="3657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4575" y="2633472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500" b="1">
                <a:solidFill>
                  <a:srgbClr val="0E0E0E"/>
                </a:solidFill>
                <a:latin typeface="Malgun Gothic"/>
              </a:defRPr>
            </a:pPr>
            <a:r>
              <a:t>PPT 템플릿 고정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4575" y="2980944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50" b="0">
                <a:solidFill>
                  <a:srgbClr val="565656"/>
                </a:solidFill>
                <a:latin typeface="Malgun Gothic"/>
              </a:defRPr>
            </a:pPr>
            <a:r>
              <a:t>영업상품별 3~5장 구조를 표준화합니다.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13048"/>
            <a:ext cx="5074920" cy="941832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3977639"/>
            <a:ext cx="3657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3959352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500" b="1">
                <a:solidFill>
                  <a:srgbClr val="0E0E0E"/>
                </a:solidFill>
                <a:latin typeface="Malgun Gothic"/>
              </a:defRPr>
            </a:pPr>
            <a:r>
              <a:t>이미지 카드 자동화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4306824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50" b="0">
                <a:solidFill>
                  <a:srgbClr val="565656"/>
                </a:solidFill>
                <a:latin typeface="Malgun Gothic"/>
              </a:defRPr>
            </a:pPr>
            <a:r>
              <a:t>대표 키워드와 추천상품을 썸네일 문구로 변환합니다.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7" y="3813048"/>
            <a:ext cx="5074920" cy="941832"/>
          </a:xfrm>
          <a:prstGeom prst="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3977639"/>
            <a:ext cx="3657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800" b="1">
                <a:solidFill>
                  <a:srgbClr val="FF6B35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575" y="3959352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500" b="1">
                <a:solidFill>
                  <a:srgbClr val="0E0E0E"/>
                </a:solidFill>
                <a:latin typeface="Malgun Gothic"/>
              </a:defRPr>
            </a:pPr>
            <a:r>
              <a:t>발송 우선순위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5" y="4306824"/>
            <a:ext cx="416052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1050" b="0">
                <a:solidFill>
                  <a:srgbClr val="565656"/>
                </a:solidFill>
                <a:latin typeface="Malgun Gothic"/>
              </a:defRPr>
            </a:pPr>
            <a:r>
              <a:t>A/B등급과 추천상품 수를 기준으로 메일 대상을 나눕니다.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473952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Local review analysis | no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normAutofit/>
          </a:bodyPr>
          <a:lstStyle/>
          <a:p>
            <a:pPr algn="r">
              <a:defRPr sz="800" b="0">
                <a:solidFill>
                  <a:srgbClr val="565656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