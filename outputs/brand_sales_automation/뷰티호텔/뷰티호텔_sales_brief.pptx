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8046720" cy="53035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3000" b="1">
                <a:solidFill>
                  <a:srgbClr val="0F0F0F"/>
                </a:solidFill>
                <a:latin typeface="Malgun Gothic"/>
              </a:defRPr>
            </a:pPr>
            <a:r>
              <a:t>뷰티호텔 리뷰 기반 영업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9326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항목별 감성/구매장벽 분석과 유사 브랜드 추천을 연결한 자동 제안서 샘플입니다.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417320"/>
            <a:ext cx="10927080" cy="13716"/>
          </a:xfrm>
          <a:prstGeom prst="rect">
            <a:avLst/>
          </a:prstGeom>
          <a:solidFill>
            <a:srgbClr val="BEC2C8"/>
          </a:solidFill>
          <a:ln>
            <a:solidFill>
              <a:srgbClr val="BEC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2514600" cy="713232"/>
          </a:xfrm>
          <a:prstGeom prst="rect">
            <a:avLst/>
          </a:prstGeom>
          <a:solidFill>
            <a:srgbClr val="EBF7F5"/>
          </a:solidFill>
          <a:ln>
            <a:solidFill>
              <a:srgbClr val="EB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64008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147E74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0574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1">
                <a:solidFill>
                  <a:srgbClr val="0F0F0F"/>
                </a:solidFill>
                <a:latin typeface="Malgun Gothic"/>
              </a:defRPr>
            </a:pPr>
            <a:r>
              <a:t>트러블/피지/모공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755648"/>
            <a:ext cx="2240280" cy="713232"/>
          </a:xfrm>
          <a:prstGeom prst="rect">
            <a:avLst/>
          </a:prstGeom>
          <a:solidFill>
            <a:srgbClr val="FFF4EF"/>
          </a:solidFill>
          <a:ln>
            <a:solidFill>
              <a:srgbClr val="FF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874519"/>
            <a:ext cx="82296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900" b="1">
                <a:solidFill>
                  <a:srgbClr val="FF6B35"/>
                </a:solidFill>
                <a:latin typeface="Malgun Gothic"/>
              </a:defRPr>
            </a:pPr>
            <a:r>
              <a:t>우선순위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2121408"/>
            <a:ext cx="1645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600" b="1">
                <a:solidFill>
                  <a:srgbClr val="0F0F0F"/>
                </a:solidFill>
                <a:latin typeface="Malgun Gothic"/>
              </a:defRPr>
            </a:pPr>
            <a:r>
              <a:t>85 /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52928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구매장벽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18688"/>
            <a:ext cx="4800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가격·혜택 설득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단점/주의 문구 보완 필요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자극·효능 신뢰 근거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85292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3218688"/>
            <a:ext cx="4572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혜택/재구매 CRM 소재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36592"/>
            <a:ext cx="12801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700" b="1">
                <a:solidFill>
                  <a:srgbClr val="0F0F0F"/>
                </a:solidFill>
                <a:latin typeface="Malgun Gothic"/>
              </a:defRPr>
            </a:pPr>
            <a:r>
              <a:t>유사 브랜드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084064"/>
            <a:ext cx="42976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퓨어피지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프레미오21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모공도둑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스킨웨이비</a:t>
            </a:r>
          </a:p>
          <a:p>
            <a:pPr>
              <a:spcAft>
                <a:spcPts val="700"/>
              </a:spcAft>
              <a:defRPr sz="1200">
                <a:solidFill>
                  <a:srgbClr val="0F0F0F"/>
                </a:solidFill>
                <a:latin typeface="Malgun Gothic"/>
              </a:defRPr>
            </a:pPr>
            <a:r>
              <a:t>트러블레스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663440"/>
            <a:ext cx="4864608" cy="914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4828032"/>
            <a:ext cx="14173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1">
                <a:solidFill>
                  <a:srgbClr val="147E74"/>
                </a:solidFill>
                <a:latin typeface="Malgun Gothic"/>
              </a:defRPr>
            </a:pPr>
            <a:r>
              <a:t>제안 메일 한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120640"/>
            <a:ext cx="4315968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50" b="1">
                <a:solidFill>
                  <a:srgbClr val="0F0F0F"/>
                </a:solidFill>
                <a:latin typeface="Malgun Gothic"/>
              </a:defRPr>
            </a:pPr>
            <a:r>
              <a:t>뷰티호텔는 좋음, 장점, 만족 신호가 있어 리뷰/FAQ 기반 상세페이지 개선 제안이 적합합니다.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6473952"/>
            <a:ext cx="5760720" cy="1645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Research-backed sales automation | review-based recommender + ABSA + proposal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